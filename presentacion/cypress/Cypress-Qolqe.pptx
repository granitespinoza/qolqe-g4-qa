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Duración por modo (segundos)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Duración (s)</c:v>
                </c:pt>
              </c:strCache>
            </c:strRef>
          </c:tx>
          <c:spPr>
            <a:solidFill>
              <a:srgbClr val="2BD18F"/>
            </a:solidFill>
          </c:spPr>
          <c:cat>
            <c:strRef>
              <c:f>Sheet1!$A$2:$A$4</c:f>
              <c:strCache>
                <c:ptCount val="3"/>
                <c:pt idx="0">
                  <c:v>Smoke</c:v>
                </c:pt>
                <c:pt idx="1">
                  <c:v>Regresión (3 casos)</c:v>
                </c:pt>
                <c:pt idx="2">
                  <c:v>Fallo didáctico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</c:v>
                </c:pt>
                <c:pt idx="1">
                  <c:v>38</c:v>
                </c:pt>
                <c:pt idx="2">
                  <c:v>23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el objetivo: automatizar un flujo completo (interfaz, API y base real) y demostrar el resultado persistido. Alcance: 3 escenarios de HU-G4-01 CA1.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https://www.cypress.io/how-it-works . El proceso Node de apoyo no es el DOM. No usamos Selenium. La demo IA incorpora una conexión a Cypress Cloud. Mocha organiza describe/it; Chai aporta las aserciones.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 local: referencias/qolqe-wallet/docs/requisitos.md, revisión 8c7d2f0c939ede7765b7b80b98c10c3905693fda. Ver docs/cypress/trazabilidad.md. El E2E-G4-001 complementa G4-001 de Karate: añade botones, formulario, mensajes y persistencia visibles.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LoginPage.ts, ContactosPage.ts y el test. No guardamos estado mutable compartido. Fuente: https://docs.cypress.io/app/core-concepts/best-practices . POM es una decisión didáctica, no una recomendación universal de Cypress.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Ejecutar scripts/cypress.ps1 open y seleccionar contactos-happy-path.cy.ts. cy.intercept observa la petición real, no sustituye la respuesta. Mostrar las aserciones y el registro de comandos.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Ejecutar scripts/cypress.ps1 ai-open (no el modo headless). Revisar el código generado antes de confiar en él. La caché puede reutilizar comandos. cy.prompt incluye self-healing según la documentación, pero nuestra demo solo muestra generación y ejecución: no afirmar que lo probamos. Fuente: https://docs.cypress.io/app/guides/ai-test-generation . Autenticación y ejecución Cloud deben ensayarse antes de exponer.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https://docs.cypress.io/app/guides/screenshots-and-videos . video:true graba durante run; el hook after:spec elimina los videos de los specs sin intentos fallidos. No equivale a grabar únicamente en el instante del fallo. Capturas automáticas y video aplican a run, no a open. Dato real: una ejecución verde avisó «Insufficient frames captured to create video».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Ejecutar scripts/cypress.ps1 failure. La salida 1 es esperada. No presentarlo como un defecto de Qolqe. Abrir el HTML con scripts/cypress.ps1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docs/cypress/hallazgos.md y docs/cypress/verificacion-local.json. La IA se verificó en ejecución interactiva; no se afirma verificación headless. Las ejecuciones públicas del workflow Cypress en GitHub Actions (main y rama codex/cypress-contactos, 24/10) terminaron en éxito: confirmar en la pestaña Actions antes de mencionarlo.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Actualizar con hallazgos medidos en docs/cypress/hallazgos.md. Fuente para límites: https://docs.cypress.io/app/references/trade-offs . El auto-wait no elimina todos los fallos intermitentes.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el repositorio y docs/cypress/README.md. La regresión corrió en GitHub Actions en éxito (confirmar en Actions). Cerrar explicando el alcance demostrado y sus límites: 3 escenarios de HU-G4-01 CA1, no toda Qolqe.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544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Cypress en Qolqe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2BD18F"/>
                </a:solidFill>
                <a:latin typeface="Calibri"/>
              </a:rPr>
              <a:t>Pruebas E2E del registro de contactos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AB8C8"/>
                </a:solidFill>
                <a:latin typeface="Calibri"/>
              </a:rPr>
              <a:t>Granit y Franco · CS5383 · Pruebas y Verificación de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280160"/>
            <a:ext cx="3840480" cy="1325880"/>
          </a:xfrm>
          <a:prstGeom prst="roundRect">
            <a:avLst>
              <a:gd name="adj" fmla="val 10000"/>
            </a:avLst>
          </a:prstGeom>
          <a:solidFill>
            <a:srgbClr val="1B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4630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2BD18F"/>
                </a:solidFill>
                <a:latin typeface="Calibri"/>
              </a:rPr>
              <a:t>3 escenarios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084831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7D2E0"/>
                </a:solidFill>
                <a:latin typeface="Calibri"/>
              </a:rPr>
              <a:t>HU-G4-01 CA1: smoke y regresión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880360"/>
            <a:ext cx="3840480" cy="1325880"/>
          </a:xfrm>
          <a:prstGeom prst="roundRect">
            <a:avLst>
              <a:gd name="adj" fmla="val 10000"/>
            </a:avLst>
          </a:prstGeom>
          <a:solidFill>
            <a:srgbClr val="1B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30632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2BD18F"/>
                </a:solidFill>
                <a:latin typeface="Calibri"/>
              </a:rPr>
              <a:t>Cypress 16.2.0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85031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7D2E0"/>
                </a:solidFill>
                <a:latin typeface="Calibri"/>
              </a:rPr>
              <a:t>TypeScript, Page Objects y Custom Commands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4480560"/>
            <a:ext cx="3840480" cy="1325880"/>
          </a:xfrm>
          <a:prstGeom prst="roundRect">
            <a:avLst>
              <a:gd name="adj" fmla="val 10000"/>
            </a:avLst>
          </a:prstGeom>
          <a:solidFill>
            <a:srgbClr val="1B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4663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2BD18F"/>
                </a:solidFill>
                <a:latin typeface="Calibri"/>
              </a:rPr>
              <a:t>CI en verde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5285231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7D2E0"/>
                </a:solidFill>
                <a:latin typeface="Calibri"/>
              </a:rPr>
              <a:t>GitHub Actions, regresión en Electron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Arquitectura de ejecución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Así se ejecuta en nuestro proyecto: un solo proceso Node.js y la API original de Qolqe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1B2733"/>
                </a:solidFill>
                <a:latin typeface="Calibri"/>
              </a:rPr>
              <a:t>Test TypeScript</a:t>
            </a:r>
          </a:p>
          <a:p>
            <a:pPr algn="ctr"/>
            <a:r>
              <a:rPr sz="1300" b="0">
                <a:solidFill>
                  <a:srgbClr val="5B6B7A"/>
                </a:solidFill>
                <a:latin typeface="Calibri"/>
              </a:rPr>
              <a:t>y Page Objects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42032" y="2194560"/>
            <a:ext cx="256032" cy="274320"/>
          </a:xfrm>
          <a:prstGeom prst="rightArrow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25496" y="173736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1B2733"/>
                </a:solidFill>
                <a:latin typeface="Calibri"/>
              </a:rPr>
              <a:t>Cypress</a:t>
            </a:r>
          </a:p>
          <a:p>
            <a:pPr algn="ctr"/>
            <a:r>
              <a:rPr sz="1300" b="0">
                <a:solidFill>
                  <a:srgbClr val="0F1B2D"/>
                </a:solidFill>
                <a:latin typeface="Calibri"/>
              </a:rPr>
              <a:t>en el navegador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18888" y="2194560"/>
            <a:ext cx="256032" cy="274320"/>
          </a:xfrm>
          <a:prstGeom prst="rightArrow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2352" y="173736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1B2733"/>
                </a:solidFill>
                <a:latin typeface="Calibri"/>
              </a:rPr>
              <a:t>UI real de Qolqe</a:t>
            </a:r>
          </a:p>
          <a:p>
            <a:pPr algn="ctr"/>
            <a:r>
              <a:rPr sz="1300" b="0">
                <a:solidFill>
                  <a:srgbClr val="5B6B7A"/>
                </a:solidFill>
                <a:latin typeface="Calibri"/>
              </a:rPr>
              <a:t>interfaz y DOM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95744" y="2194560"/>
            <a:ext cx="256032" cy="274320"/>
          </a:xfrm>
          <a:prstGeom prst="rightArrow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9208" y="173736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1B2733"/>
                </a:solidFill>
                <a:latin typeface="Calibri"/>
              </a:rPr>
              <a:t>API FastAPI</a:t>
            </a:r>
          </a:p>
          <a:p>
            <a:pPr algn="ctr"/>
            <a:r>
              <a:rPr sz="1300" b="0">
                <a:solidFill>
                  <a:srgbClr val="5B6B7A"/>
                </a:solidFill>
                <a:latin typeface="Calibri"/>
              </a:rPr>
              <a:t>127.0.0.1:8011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2194560"/>
            <a:ext cx="256032" cy="274320"/>
          </a:xfrm>
          <a:prstGeom prst="rightArrow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56064" y="173736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1B2733"/>
                </a:solidFill>
                <a:latin typeface="Calibri"/>
              </a:rPr>
              <a:t>SQLite</a:t>
            </a:r>
          </a:p>
          <a:p>
            <a:pPr algn="ctr"/>
            <a:r>
              <a:rPr sz="1300" b="0">
                <a:solidFill>
                  <a:srgbClr val="5B6B7A"/>
                </a:solidFill>
                <a:latin typeface="Calibri"/>
              </a:rPr>
              <a:t>base exclusiva de Cypress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3749039"/>
            <a:ext cx="2606040" cy="1005840"/>
          </a:xfrm>
          <a:prstGeom prst="roundRect">
            <a:avLst>
              <a:gd name="adj" fmla="val 8000"/>
            </a:avLst>
          </a:prstGeom>
          <a:solidFill>
            <a:srgbClr val="1B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Proceso Node.js</a:t>
            </a:r>
          </a:p>
          <a:p>
            <a:pPr algn="ctr"/>
            <a:r>
              <a:rPr sz="1300" b="0">
                <a:solidFill>
                  <a:srgbClr val="C7D2E0"/>
                </a:solidFill>
                <a:latin typeface="Calibri"/>
              </a:rPr>
              <a:t>configuración, eventos, reportes y videos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3448" y="3749039"/>
            <a:ext cx="28346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1B2733"/>
                </a:solidFill>
                <a:latin typeface="Calibri"/>
              </a:rPr>
              <a:t>Cypress Cloud</a:t>
            </a:r>
          </a:p>
          <a:p>
            <a:pPr algn="ctr"/>
            <a:r>
              <a:rPr sz="1300" b="0">
                <a:solidFill>
                  <a:srgbClr val="5B6B7A"/>
                </a:solidFill>
                <a:latin typeface="Calibri"/>
              </a:rPr>
              <a:t>cy.prompt, solo en la demo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0">
                <a:solidFill>
                  <a:srgbClr val="1B2733"/>
                </a:solidFill>
                <a:latin typeface="Calibri"/>
              </a:rPr>
              <a:t>Las consultas y aserciones reintentan hasta su límite de tiempo. Eso ayuda, pero no elimina todos los fallos intermitentes.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Del criterio de aceptación a la prueba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HU-G4-01 · Agregar un contacto · CA1 · reglas R-G4-01/02/03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023360"/>
                <a:gridCol w="420624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 anchor="ctr" marL="109728" marR="109728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Dato y técnica</a:t>
                      </a:r>
                    </a:p>
                  </a:txBody>
                  <a:tcPr anchor="ctr" marL="109728" marR="109728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 anchor="ctr" marL="109728" marR="109728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109728">
                    <a:solidFill>
                      <a:srgbClr val="0F1B2D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733"/>
                          </a:solidFill>
                          <a:latin typeface="Calibri"/>
                        </a:rPr>
                        <a:t>E2E-G4-001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733"/>
                          </a:solidFill>
                          <a:latin typeface="Calibri"/>
                        </a:rPr>
                        <a:t>Alias «Ana Cypress», lista vacía. Partición válida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733"/>
                          </a:solidFill>
                          <a:latin typeface="Calibri"/>
                        </a:rPr>
                        <a:t>POST 201, una fila que persiste tras recargar, contador 0 a 1 de 15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7A55"/>
                          </a:solidFill>
                          <a:latin typeface="Calibri"/>
                        </a:rPr>
                        <a:t>Smoke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733"/>
                          </a:solidFill>
                          <a:latin typeface="Calibri"/>
                        </a:rPr>
                        <a:t>E2E-G4-002</a:t>
                      </a:r>
                    </a:p>
                  </a:txBody>
                  <a:tcPr anchor="ctr" marL="109728" marR="109728"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733"/>
                          </a:solidFill>
                          <a:latin typeface="Calibri"/>
                        </a:rPr>
                        <a:t>Alias «Lu»: 2 caracteres, justo bajo el mínimo 3</a:t>
                      </a:r>
                    </a:p>
                  </a:txBody>
                  <a:tcPr anchor="ctr" marL="109728" marR="109728"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733"/>
                          </a:solidFill>
                          <a:latin typeface="Calibri"/>
                        </a:rPr>
                        <a:t>422 ALIAS_INVALIDO, error visible y cero contactos tras recargar</a:t>
                      </a:r>
                    </a:p>
                  </a:txBody>
                  <a:tcPr anchor="ctr" marL="109728" marR="109728"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4E9C"/>
                          </a:solidFill>
                          <a:latin typeface="Calibri"/>
                        </a:rPr>
                        <a:t>Regresión</a:t>
                      </a:r>
                    </a:p>
                  </a:txBody>
                  <a:tcPr anchor="ctr" marL="109728" marR="109728">
                    <a:solidFill>
                      <a:srgbClr val="EAF0F6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733"/>
                          </a:solidFill>
                          <a:latin typeface="Calibri"/>
                        </a:rPr>
                        <a:t>E2E-G4-003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733"/>
                          </a:solidFill>
                          <a:latin typeface="Calibri"/>
                        </a:rPr>
                        <a:t>Mismo celular dos veces con otro alias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733"/>
                          </a:solidFill>
                          <a:latin typeface="Calibri"/>
                        </a:rPr>
                        <a:t>409 CONTACTO_EXISTENTE, una sola fila con el alias original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4E9C"/>
                          </a:solidFill>
                          <a:latin typeface="Calibri"/>
                        </a:rPr>
                        <a:t>Regresión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2BD18F"/>
                </a:solidFill>
                <a:latin typeface="Calibri"/>
              </a:rPr>
              <a:t>Por qué estos tres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Camino principal, frontera del alias y duplicado. Cada uno verifica que no se cree ni se duplique el contacto.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5262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E8923A"/>
                </a:solidFill>
                <a:latin typeface="Calibri"/>
              </a:rPr>
              <a:t>Lo que no cubre</a:t>
            </a:r>
          </a:p>
          <a:p>
            <a:pPr algn="l"/>
            <a:r>
              <a:rPr sz="1400" b="0">
                <a:solidFill>
                  <a:srgbClr val="1B2733"/>
                </a:solidFill>
                <a:latin typeface="Calibri"/>
              </a:rPr>
              <a:t>Celular propio o inactivo, límite 15, todas las fronteras del alias y HU-G4-02. Eso se prueba a nivel 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Patrón Page Object y Custom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Los selectores viven en un solo lugar; las aserciones, en el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04</a:t>
            </a:r>
          </a:p>
        </p:txBody>
      </p:sp>
      <p:pic>
        <p:nvPicPr>
          <p:cNvPr id="5" name="Picture 4" descr="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4480560" cy="2858825"/>
          </a:xfrm>
          <a:prstGeom prst="rect">
            <a:avLst/>
          </a:prstGeom>
        </p:spPr>
      </p:pic>
      <p:pic>
        <p:nvPicPr>
          <p:cNvPr id="6" name="Picture 5" descr="p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600200"/>
            <a:ext cx="6309360" cy="24075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9377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LoginPage y ContactosPage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Selectores data-testid y acciones, sin estado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49377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Las aserciones en el test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Códigos 201, 422 y 409 y la persistencia quedan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49377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cy.prepararContactos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Crea dos usuarios ficticios por escenario con cy.request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Demo del happy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El contacto debe seguir allí después de recargar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05</a:t>
            </a:r>
          </a:p>
        </p:txBody>
      </p:sp>
      <p:pic>
        <p:nvPicPr>
          <p:cNvPr id="5" name="Picture 4" descr="ha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675120" cy="336044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680960" y="1691640"/>
            <a:ext cx="384048" cy="384048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F1B2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Preparación por API e ingreso por la interfaz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2496312"/>
            <a:ext cx="384048" cy="384048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F1B2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Celular registrado y alias «Ana Cypress»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3300984"/>
            <a:ext cx="384048" cy="384048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F1B2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00984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POST real: respuesta 201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4105656"/>
            <a:ext cx="384048" cy="384048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F1B2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105656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Una fila con datos correctos y favorito desactivado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4910328"/>
            <a:ext cx="384048" cy="384048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F1B2D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910328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Recarga y comprobación de persistencia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6675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BD1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1B2733"/>
                </a:solidFill>
                <a:latin typeface="Calibri"/>
              </a:rPr>
              <a:t>cy.intercept solo observa la petición: la prueba usa la API real, sin respuestas simuladas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715000"/>
            <a:ext cx="3931920" cy="4572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2BD18F"/>
                </a:solidFill>
                <a:latin typeface="Calibri"/>
              </a:rPr>
              <a:t>scripts/cypress.ps1 open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IA aplicada con cy.prompt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Instrucciones en lenguaje natural que generan comandos de Cypress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06</a:t>
            </a:r>
          </a:p>
        </p:txBody>
      </p:sp>
      <p:pic>
        <p:nvPicPr>
          <p:cNvPr id="5" name="Picture 4" descr="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858000" cy="3012928"/>
          </a:xfrm>
          <a:prstGeom prst="rect">
            <a:avLst/>
          </a:prstGeom>
        </p:spPr>
      </p:pic>
      <p:pic>
        <p:nvPicPr>
          <p:cNvPr id="6" name="Picture 5" descr="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04568"/>
            <a:ext cx="6858000" cy="152158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72400" y="163677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5448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La IA completa Celular y Alias y pulsa Agregar</a:t>
            </a:r>
          </a:p>
        </p:txBody>
      </p:sp>
      <p:sp>
        <p:nvSpPr>
          <p:cNvPr id="9" name="Oval 8"/>
          <p:cNvSpPr/>
          <p:nvPr/>
        </p:nvSpPr>
        <p:spPr>
          <a:xfrm>
            <a:off x="7772400" y="2414015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33172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La opción Code muestra los comandos generados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19125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1089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Aserciones explícitas: 201 y persistencia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0" y="396849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Requiere cuenta Cloud, conexión y cuota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84632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E7F8F0"/>
          </a:solidFill>
          <a:ln w="19050">
            <a:solidFill>
              <a:srgbClr val="2BD1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400" b="1">
                <a:solidFill>
                  <a:srgbClr val="0B7A55"/>
                </a:solidFill>
                <a:latin typeface="Calibri"/>
              </a:rPr>
              <a:t>Aprobada en ejecución interactiva</a:t>
            </a:r>
          </a:p>
          <a:p>
            <a:pPr algn="l"/>
            <a:r>
              <a:rPr sz="1300" b="0">
                <a:solidFill>
                  <a:srgbClr val="1B2733"/>
                </a:solidFill>
                <a:latin typeface="Calibri"/>
              </a:rPr>
              <a:t>24/10. Demostramos generación y ejecución; el self-healing no lo probamos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Captura real de la ejecución local (evidencias/cypress-ia-aprobada.png)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Reportes y evidencia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Guardamos lo que ayuda a explicar un fallo y descartamos el resto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cypress run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51760" y="1965960"/>
            <a:ext cx="274320" cy="274320"/>
          </a:xfrm>
          <a:prstGeom prst="rightArrow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733"/>
                </a:solidFill>
                <a:latin typeface="Calibri"/>
              </a:rPr>
              <a:t>¿Falló algún intento del spec?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301752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C4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8A1F24"/>
                </a:solidFill>
                <a:latin typeface="Calibri"/>
              </a:rPr>
              <a:t>Sí: conserva captura, video y reporte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286000"/>
            <a:ext cx="3017520" cy="731520"/>
          </a:xfrm>
          <a:prstGeom prst="roundRect">
            <a:avLst>
              <a:gd name="adj" fmla="val 8000"/>
            </a:avLst>
          </a:prstGeom>
          <a:solidFill>
            <a:srgbClr val="E7F8F0"/>
          </a:solidFill>
          <a:ln w="19050">
            <a:solidFill>
              <a:srgbClr val="2BD1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0B5E41"/>
                </a:solidFill>
                <a:latin typeface="Calibri"/>
              </a:rPr>
              <a:t>No: elimina el video (hook after:spec)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57800" y="1600200"/>
            <a:ext cx="274320" cy="228600"/>
          </a:xfrm>
          <a:prstGeom prst="rightArrow">
            <a:avLst/>
          </a:prstGeom>
          <a:solidFill>
            <a:srgbClr val="DC4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257800" y="2468880"/>
            <a:ext cx="274320" cy="228600"/>
          </a:xfrm>
          <a:prstGeom prst="rightArrow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91840"/>
            <a:ext cx="6309360" cy="1055262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7315200" y="337413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329184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Reporte HTML por ejecución (mochawesome)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3941063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85876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Capturas automáticas al fallar, solo en run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0" y="4507992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4425696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Sin reintentos de tests que oculten resultados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0" y="5074920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4992624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CI guarda los artefactos 7 días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1B2733"/>
                </a:solidFill>
                <a:latin typeface="Calibri"/>
              </a:rPr>
              <a:t>Aviso real: una ejecución verde dijo «Insufficient frames captured to create video». Un test verde no garantiza que la evidencia se generó: hay que revisar los artefactos.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Fallo didáctico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Una expectativa incorrecta produce una prueba roja, y Cypress conserva la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08</a:t>
            </a:r>
          </a:p>
        </p:txBody>
      </p:sp>
      <p:pic>
        <p:nvPicPr>
          <p:cNvPr id="5" name="Picture 4" descr="f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766560" cy="147752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80960" y="1645920"/>
            <a:ext cx="393192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1B2733"/>
                </a:solidFill>
                <a:latin typeface="Calibri"/>
              </a:rPr>
              <a:t>Captura PNG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del momento del fallo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697480"/>
            <a:ext cx="393192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1B2733"/>
                </a:solidFill>
                <a:latin typeface="Calibri"/>
              </a:rPr>
              <a:t>Video MP4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del spec fallido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749039"/>
            <a:ext cx="393192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1B2733"/>
                </a:solidFill>
                <a:latin typeface="Calibri"/>
              </a:rPr>
              <a:t>Reporte HTML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con el error y la diferencia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6766560" cy="173736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600" b="1">
                <a:solidFill>
                  <a:srgbClr val="2BD18F"/>
                </a:solidFill>
                <a:latin typeface="Calibri"/>
              </a:rPr>
              <a:t>Qué esperar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Creamos un contacto y la demo exige deliberadamente dos. Cypress informa que encontró 1 y esperaba 2.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Salida 1 esperada. Fuera de regresión y de 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4892040"/>
            <a:ext cx="3931920" cy="105156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1B2733"/>
                </a:solidFill>
                <a:latin typeface="Calibri"/>
              </a:rPr>
              <a:t>No es un defecto de Qolqe: es una expectativa falsa a propósito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Resultados verificados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Comprobación del 24 de octubre: Cypress 16.2.0, Chrome 156, Node 24, Qolqe fijado en 8c7d2f0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2BD18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smoke aprobado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64592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783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2BD18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regresión aprobados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E8923A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fallo esperado de la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64592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783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2BD18F"/>
                </a:solidFill>
                <a:latin typeface="Cambria"/>
              </a:rP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CI en GitHub Actions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3520440"/>
          <a:ext cx="667512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Oval 17"/>
          <p:cNvSpPr/>
          <p:nvPr/>
        </p:nvSpPr>
        <p:spPr>
          <a:xfrm>
            <a:off x="7680960" y="369417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3611880"/>
            <a:ext cx="3749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El happy path corrió dos veces, con datos independientes</a:t>
            </a:r>
          </a:p>
        </p:txBody>
      </p:sp>
      <p:sp>
        <p:nvSpPr>
          <p:cNvPr id="20" name="Oval 19"/>
          <p:cNvSpPr/>
          <p:nvPr/>
        </p:nvSpPr>
        <p:spPr>
          <a:xfrm>
            <a:off x="7680960" y="437997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4297680"/>
            <a:ext cx="3749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TypeScript sin errores</a:t>
            </a:r>
          </a:p>
        </p:txBody>
      </p:sp>
      <p:sp>
        <p:nvSpPr>
          <p:cNvPr id="22" name="Oval 21"/>
          <p:cNvSpPr/>
          <p:nvPr/>
        </p:nvSpPr>
        <p:spPr>
          <a:xfrm>
            <a:off x="7680960" y="506577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4983480"/>
            <a:ext cx="3749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B2733"/>
                </a:solidFill>
                <a:latin typeface="Calibri"/>
              </a:rPr>
              <a:t>Videos solo en el spec fallido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Dificultades y límites en Qolqe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Lo que costó y lo que esta suite no cubre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F1B2D"/>
                </a:solidFill>
                <a:latin typeface="Calibri"/>
              </a:rPr>
              <a:t>Dificultades reales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Node 20 incompatible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El equipo tenía Node 20; Cypress 16 exige 22, 24 o 26 o superior. El lanzador elige uno compatible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0116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Comillas de PowerShell 5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Eliminaban comillas al pasar expresiones a Node; se simplificó la detección de versión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cy.prompt y Cloud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El primer intento falló al descargar su módulo Cloud; luego se completó el acceso y el projectId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0116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500" b="1">
                <a:solidFill>
                  <a:srgbClr val="1B2733"/>
                </a:solidFill>
                <a:latin typeface="Calibri"/>
              </a:rPr>
              <a:t>Placeholder {{alias}}</a:t>
            </a:r>
          </a:p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La verificación con {{alias}} requirió escribir el texto explícito «Contacto IA»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F1B2D"/>
                </a:solidFill>
                <a:latin typeface="Calibri"/>
              </a:rPr>
              <a:t>Límites de nuestra suite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1B2733"/>
                </a:solidFill>
                <a:latin typeface="Calibri"/>
              </a:rPr>
              <a:t>3 escenarios de un flujo: no toda Qolqe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480060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1B2733"/>
                </a:solidFill>
                <a:latin typeface="Calibri"/>
              </a:rPr>
              <a:t>Regresión sin Cypress Cloud; solo la demo IA lo necesita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4800600"/>
            <a:ext cx="36118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0">
                <a:solidFill>
                  <a:srgbClr val="1B2733"/>
                </a:solidFill>
                <a:latin typeface="Calibri"/>
              </a:rPr>
              <a:t>Los reintentos de Cypress no garantizan ausencia de fallos intermitentes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F1B2D"/>
                </a:solidFill>
                <a:latin typeface="Calibri"/>
              </a:rPr>
              <a:t>Entrega y reproducción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B6B7A"/>
                </a:solidFill>
                <a:latin typeface="Calibri"/>
              </a:rPr>
              <a:t>Código, presentación y ejecución documentada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Preparar en Windows (Node 24 LTS)</a:t>
            </a:r>
          </a:p>
        </p:txBody>
      </p:sp>
      <p:pic>
        <p:nvPicPr>
          <p:cNvPr id="6" name="Picture 5" descr="cm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4480560" cy="1938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Calibri"/>
              </a:rPr>
              <a:t>Modos de ejecución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7A55"/>
                </a:solidFill>
                <a:latin typeface="Calibri"/>
              </a:rPr>
              <a:t>smoke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4617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733"/>
                </a:solidFill>
                <a:latin typeface="Calibri"/>
              </a:rPr>
              <a:t>happy path en Chrome headless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461772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7A55"/>
                </a:solidFill>
                <a:latin typeface="Calibri"/>
              </a:rPr>
              <a:t>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617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733"/>
                </a:solidFill>
                <a:latin typeface="Calibri"/>
              </a:rPr>
              <a:t>los tres casos de negocio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8464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7A55"/>
                </a:solidFill>
                <a:latin typeface="Calibri"/>
              </a:rPr>
              <a:t>open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5184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733"/>
                </a:solidFill>
                <a:latin typeface="Calibri"/>
              </a:rPr>
              <a:t>Cypress App interactiva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518464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7A55"/>
                </a:solidFill>
                <a:latin typeface="Calibri"/>
              </a:rPr>
              <a:t>ai-open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84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733"/>
                </a:solidFill>
                <a:latin typeface="Calibri"/>
              </a:rPr>
              <a:t>demo IA, sesión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5157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7A55"/>
                </a:solidFill>
                <a:latin typeface="Calibri"/>
              </a:rPr>
              <a:t>failure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19" y="5751576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733"/>
                </a:solidFill>
                <a:latin typeface="Calibri"/>
              </a:rPr>
              <a:t>fallo didáctico, salida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75157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7A55"/>
                </a:solidFill>
                <a:latin typeface="Calibri"/>
              </a:rPr>
              <a:t>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751576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733"/>
                </a:solidFill>
                <a:latin typeface="Calibri"/>
              </a:rPr>
              <a:t>abre el HTML de la última ejecución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1728216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645920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README con requisitos y comandos comprobables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386584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230428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Trazabilidad: requisito, caso y aserciones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044952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2962656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Suite convencional separada de las demos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3703320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3621024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GitHub Actions ejecuta la regresión tras cada push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361688"/>
            <a:ext cx="128016" cy="128016"/>
          </a:xfrm>
          <a:prstGeom prst="ellipse">
            <a:avLst/>
          </a:prstGeom>
          <a:solidFill>
            <a:srgbClr val="2BD1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4279392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requiere Karate ni Java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07492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Alcance: 3 escenarios de HU-G4-01 CA1. No se declara cobertura completa de Qolqe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