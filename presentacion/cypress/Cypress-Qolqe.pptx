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b8fbd268c2e4939" /><Relationship Type="http://schemas.openxmlformats.org/officeDocument/2006/relationships/extended-properties" Target="/docProps/app.xml" Id="Rac80669b25104ee9" /><Relationship Type="http://schemas.openxmlformats.org/officeDocument/2006/relationships/officeDocument" Target="/ppt/presentation.xml" Id="Rb7dce84e97e643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9f3c3ad3ea42ac"/>
  </p:sldMasterIdLst>
  <p:notesMasterIdLst>
    <p:notesMasterId xmlns:r="http://schemas.openxmlformats.org/officeDocument/2006/relationships" r:id="Rfe684a03249f4f9d"/>
  </p:notesMasterIdLst>
  <p:sldIdLst>
    <p:sldId xmlns:r="http://schemas.openxmlformats.org/officeDocument/2006/relationships" id="256" r:id="R1d094103d62c4459"/>
    <p:sldId xmlns:r="http://schemas.openxmlformats.org/officeDocument/2006/relationships" id="257" r:id="Rdc5b3c49a1b94742"/>
    <p:sldId xmlns:r="http://schemas.openxmlformats.org/officeDocument/2006/relationships" id="258" r:id="R29da9b7c82d1483b"/>
    <p:sldId xmlns:r="http://schemas.openxmlformats.org/officeDocument/2006/relationships" id="259" r:id="Rd8f8bed341b24b7d"/>
    <p:sldId xmlns:r="http://schemas.openxmlformats.org/officeDocument/2006/relationships" id="260" r:id="R7612c6eb8d84435c"/>
    <p:sldId xmlns:r="http://schemas.openxmlformats.org/officeDocument/2006/relationships" id="261" r:id="R3e34361f316b4703"/>
    <p:sldId xmlns:r="http://schemas.openxmlformats.org/officeDocument/2006/relationships" id="262" r:id="R5c9a71ca914f41aa"/>
    <p:sldId xmlns:r="http://schemas.openxmlformats.org/officeDocument/2006/relationships" id="263" r:id="R09c884de633b4971"/>
    <p:sldId xmlns:r="http://schemas.openxmlformats.org/officeDocument/2006/relationships" id="264" r:id="R112aaff397244eb7"/>
    <p:sldId xmlns:r="http://schemas.openxmlformats.org/officeDocument/2006/relationships" id="265" r:id="R6eb121d725c243f6"/>
    <p:sldId xmlns:r="http://schemas.openxmlformats.org/officeDocument/2006/relationships" id="266" r:id="R0edd4f1b47c544f9"/>
    <p:sldId xmlns:r="http://schemas.openxmlformats.org/officeDocument/2006/relationships" id="267" r:id="R1d428e16c0d74f9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b86c976a4f4cec" /><Relationship Type="http://schemas.openxmlformats.org/officeDocument/2006/relationships/slideMaster" Target="/ppt/slideMasters/slideMaster1.xml" Id="Rea9f3c3ad3ea42ac" /><Relationship Type="http://schemas.openxmlformats.org/officeDocument/2006/relationships/notesMaster" Target="/ppt/notesMasters/notesMaster1.xml" Id="Rfe684a03249f4f9d" /><Relationship Type="http://schemas.openxmlformats.org/officeDocument/2006/relationships/presProps" Target="/ppt/presProps.xml" Id="R4130fc4ffc6c4661" /><Relationship Type="http://schemas.openxmlformats.org/officeDocument/2006/relationships/tableStyles" Target="/ppt/tableStyles.xml" Id="Ra79505f453f8437f" /><Relationship Type="http://schemas.openxmlformats.org/officeDocument/2006/relationships/slide" Target="/ppt/slides/slide1.xml" Id="R1d094103d62c4459" /><Relationship Type="http://schemas.openxmlformats.org/officeDocument/2006/relationships/slide" Target="/ppt/slides/slide2.xml" Id="Rdc5b3c49a1b94742" /><Relationship Type="http://schemas.openxmlformats.org/officeDocument/2006/relationships/slide" Target="/ppt/slides/slide3.xml" Id="R29da9b7c82d1483b" /><Relationship Type="http://schemas.openxmlformats.org/officeDocument/2006/relationships/slide" Target="/ppt/slides/slide4.xml" Id="Rd8f8bed341b24b7d" /><Relationship Type="http://schemas.openxmlformats.org/officeDocument/2006/relationships/slide" Target="/ppt/slides/slide5.xml" Id="R7612c6eb8d84435c" /><Relationship Type="http://schemas.openxmlformats.org/officeDocument/2006/relationships/slide" Target="/ppt/slides/slide6.xml" Id="R3e34361f316b4703" /><Relationship Type="http://schemas.openxmlformats.org/officeDocument/2006/relationships/slide" Target="/ppt/slides/slide7.xml" Id="R5c9a71ca914f41aa" /><Relationship Type="http://schemas.openxmlformats.org/officeDocument/2006/relationships/slide" Target="/ppt/slides/slide8.xml" Id="R09c884de633b4971" /><Relationship Type="http://schemas.openxmlformats.org/officeDocument/2006/relationships/slide" Target="/ppt/slides/slide9.xml" Id="R112aaff397244eb7" /><Relationship Type="http://schemas.openxmlformats.org/officeDocument/2006/relationships/slide" Target="/ppt/slides/slide10.xml" Id="R6eb121d725c243f6" /><Relationship Type="http://schemas.openxmlformats.org/officeDocument/2006/relationships/slide" Target="/ppt/slides/slide11.xml" Id="R0edd4f1b47c544f9" /><Relationship Type="http://schemas.openxmlformats.org/officeDocument/2006/relationships/slide" Target="/ppt/slides/slide12.xml" Id="R1d428e16c0d74f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e213bae9c34d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7aa385b4c34b7c" /><Relationship Type="http://schemas.openxmlformats.org/officeDocument/2006/relationships/notesMaster" Target="/ppt/notesMasters/notesMaster1.xml" Id="Rfb8e687e9af44f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1d9bb1c29e4121" /><Relationship Type="http://schemas.openxmlformats.org/officeDocument/2006/relationships/notesMaster" Target="/ppt/notesMasters/notesMaster1.xml" Id="R00080b4280ec44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21341cf965417d" /><Relationship Type="http://schemas.openxmlformats.org/officeDocument/2006/relationships/notesMaster" Target="/ppt/notesMasters/notesMaster1.xml" Id="Rd1c21976be4242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e95e9cdf334b62" /><Relationship Type="http://schemas.openxmlformats.org/officeDocument/2006/relationships/notesMaster" Target="/ppt/notesMasters/notesMaster1.xml" Id="R616da9d2e87246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ee447fe743474d" /><Relationship Type="http://schemas.openxmlformats.org/officeDocument/2006/relationships/notesMaster" Target="/ppt/notesMasters/notesMaster1.xml" Id="Rc674b46bd7ab4d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ecd85664c6425b" /><Relationship Type="http://schemas.openxmlformats.org/officeDocument/2006/relationships/notesMaster" Target="/ppt/notesMasters/notesMaster1.xml" Id="R1a02f21528994c9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0bf3d027114870" /><Relationship Type="http://schemas.openxmlformats.org/officeDocument/2006/relationships/notesMaster" Target="/ppt/notesMasters/notesMaster1.xml" Id="R8d32147a3d4445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f104b10a46456c" /><Relationship Type="http://schemas.openxmlformats.org/officeDocument/2006/relationships/notesMaster" Target="/ppt/notesMasters/notesMaster1.xml" Id="R43929f2a13814c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877ac3d96fa415f" /><Relationship Type="http://schemas.openxmlformats.org/officeDocument/2006/relationships/notesMaster" Target="/ppt/notesMasters/notesMaster1.xml" Id="Rf4c298474fb945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e75c6963b947a2" /><Relationship Type="http://schemas.openxmlformats.org/officeDocument/2006/relationships/notesMaster" Target="/ppt/notesMasters/notesMaster1.xml" Id="R757b44f7c3af46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4d1f20bc8c4cc9" /><Relationship Type="http://schemas.openxmlformats.org/officeDocument/2006/relationships/notesMaster" Target="/ppt/notesMasters/notesMaster1.xml" Id="R828a1bd6812e42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80dbfeff7d4f4a" /><Relationship Type="http://schemas.openxmlformats.org/officeDocument/2006/relationships/notesMaster" Target="/ppt/notesMasters/notesMaster1.xml" Id="Re9cd166631f042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Presentar el objetivo: automatizar un flujo completo y demostrar el resultado persistido.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Relacionar con el ejemplo del botón que no responde del material de clase. Alcance: interfaz, API y base real.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https://www.cypress.io/blog/cypress-is-now-public-beta ; https://www.cypress.io/blog/cypress-10-release ; https://docs.cypress.io/api/commands/prompt#History. Cypress también prueba componentes y realiza solicitudes API.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https://www.cypress.io/how-it-works . El proceso Node de apoyo no es el DOM. No usamos Selenium. La demo IA incorpora una conexión a Cypress Cloud.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local: referencias/qolqe-wallet/docs/requisitos.md, revisión 8c7d2f0c939ede7765b7b80b98c10c3905693fda. R-G4-01, R-G4-02 y R-G4-03. Ver docs/cypress/trazabilidad.md.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LoginPage.ts, ContactosPage.ts y el test. No guardamos estado mutable compartido. Fuente: https://docs.cypress.io/app/core-concepts/best-practices . POM es una decisión didáctica, no una recomendación universal de Cypress.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Ejecutar scripts/cypress.ps1 open y seleccionar contactos-happy-path.cy.ts. cy.intercept observa la petición real, no sustituye la respuesta. Mostrar las aserciones y el registro de comandos.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Ejecutar scripts/cypress.ps1 ai-open. Revisar el código generado antes de confiar en él. La caché puede reutilizar comandos. No afirmar self-healing si solo demostramos generación. Fuente: https://docs.cypress.io/app/guides/ai-test-generation . Autenticación y ejecución Cloud deben ensayarse antes de exponer.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https://docs.cypress.io/app/guides/screenshots-and-videos . video:true graba durante run; after:spec elimina videos exitosos. No equivale a grabar únicamente en el instante del fallo.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Ejecutar scripts/cypress.ps1 failure. La salida 1 es esperada. No presentarlo como un defecto de Qolqe. Abrir el HTML con scripts/cypress.ps1 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Actualizar con hallazgos medidos en docs/cypress/hallazgos.md. Fuente para límites: https://docs.cypress.io/app/references/trade-offs . El autoesperado no elimina todos los fallos intermitentes.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Abrir el repositorio y docs/cypress/README.md. No atribuir a CI un resultado remoto antes de ejecutar el workflow. Cerrar explicando el alcance demostrado y sus límites.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317ce887604a3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874be56e6e41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8ae7dc2d24e6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e6eb3c9cfb40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447a3d208a41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5af18a00bf4e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F55046-FF05-44FA-9A67-85F98D8CAD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E7140E6-B9B9-4D91-A444-DE53BF356B8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4539B36-D934-4C87-B0A4-6A6C9516B7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407CA46-968A-4AD9-BD34-673DDF995E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EEAF658-2C7B-4293-92A1-C4FED19D1A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4EEF2DB-A87E-4B8A-B30F-9CB3079768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9067CF6-201F-42CE-BB09-C0E4E4C30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ACBB1A1-719F-40DA-A4C5-3D51E846FDA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70E9A4F-0CDA-471B-9CA0-188013BB51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A334999-16F3-41D5-BCAA-77B39476B3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fc1aceef764f9b" /><Relationship Type="http://schemas.openxmlformats.org/officeDocument/2006/relationships/slideLayout" Target="/ppt/slideLayouts/slideLayout1.xml" Id="R2d541c86428e4b63" /><Relationship Type="http://schemas.openxmlformats.org/officeDocument/2006/relationships/slideLayout" Target="/ppt/slideLayouts/slideLayout2.xml" Id="R256fb24765c54ff5" /><Relationship Type="http://schemas.openxmlformats.org/officeDocument/2006/relationships/slideLayout" Target="/ppt/slideLayouts/slideLayout3.xml" Id="R6afba4e65a8e4558" /><Relationship Type="http://schemas.openxmlformats.org/officeDocument/2006/relationships/slideLayout" Target="/ppt/slideLayouts/slideLayout4.xml" Id="R731ea1412183456e" /><Relationship Type="http://schemas.openxmlformats.org/officeDocument/2006/relationships/slideLayout" Target="/ppt/slideLayouts/slideLayout5.xml" Id="R8ff429fef5944222" /><Relationship Type="http://schemas.openxmlformats.org/officeDocument/2006/relationships/slideLayout" Target="/ppt/slideLayouts/slideLayout6.xml" Id="Rf35b1d0ad10b41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541c86428e4b63"/>
    <p:sldLayoutId xmlns:r="http://schemas.openxmlformats.org/officeDocument/2006/relationships" id="2147483650" r:id="R256fb24765c54ff5"/>
    <p:sldLayoutId xmlns:r="http://schemas.openxmlformats.org/officeDocument/2006/relationships" id="2147483651" r:id="R6afba4e65a8e4558"/>
    <p:sldLayoutId xmlns:r="http://schemas.openxmlformats.org/officeDocument/2006/relationships" id="2147483652" r:id="R731ea1412183456e"/>
    <p:sldLayoutId xmlns:r="http://schemas.openxmlformats.org/officeDocument/2006/relationships" id="2147483653" r:id="R8ff429fef5944222"/>
    <p:sldLayoutId xmlns:r="http://schemas.openxmlformats.org/officeDocument/2006/relationships" id="2147483654" r:id="Rf35b1d0ad10b41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d5bdb9b27f4a5c" /><Relationship Type="http://schemas.openxmlformats.org/officeDocument/2006/relationships/notesSlide" Target="/ppt/notesSlides/notesSlide1.xml" Id="Rf2a4e187ebeb4c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94a2bebb234a54" /><Relationship Type="http://schemas.openxmlformats.org/officeDocument/2006/relationships/notesSlide" Target="/ppt/notesSlides/notesSlide2.xml" Id="Reae85d9df1cd4e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94d4ab52654226" /><Relationship Type="http://schemas.openxmlformats.org/officeDocument/2006/relationships/notesSlide" Target="/ppt/notesSlides/notesSlide3.xml" Id="Rb4856f55872e4c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a3bba55a9e445f" /><Relationship Type="http://schemas.openxmlformats.org/officeDocument/2006/relationships/notesSlide" Target="/ppt/notesSlides/notesSlide4.xml" Id="R1252edc533a642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8c3e502e6147ae" /><Relationship Type="http://schemas.openxmlformats.org/officeDocument/2006/relationships/notesSlide" Target="/ppt/notesSlides/notesSlide5.xml" Id="R7dde73d521144f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6042d3f3c54f92" /><Relationship Type="http://schemas.openxmlformats.org/officeDocument/2006/relationships/notesSlide" Target="/ppt/notesSlides/notesSlide6.xml" Id="Rfe3029e66ff64b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be55622c8041d9" /><Relationship Type="http://schemas.openxmlformats.org/officeDocument/2006/relationships/notesSlide" Target="/ppt/notesSlides/notesSlide7.xml" Id="Raf64a4c2aebc4c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4b869b38184d15" /><Relationship Type="http://schemas.openxmlformats.org/officeDocument/2006/relationships/notesSlide" Target="/ppt/notesSlides/notesSlide8.xml" Id="Rbcdac0192f6f47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f951ef1ef744bd" /><Relationship Type="http://schemas.openxmlformats.org/officeDocument/2006/relationships/notesSlide" Target="/ppt/notesSlides/notesSlide9.xml" Id="R337adc561e934a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c8090cba6e42ec" /><Relationship Type="http://schemas.openxmlformats.org/officeDocument/2006/relationships/notesSlide" Target="/ppt/notesSlides/notesSlide10.xml" Id="Re82f0a27feaa47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5a94f7e88e4426" /><Relationship Type="http://schemas.openxmlformats.org/officeDocument/2006/relationships/notesSlide" Target="/ppt/notesSlides/notesSlide11.xml" Id="R59b52183551e4e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7e6f48f40d42c3" /><Relationship Type="http://schemas.openxmlformats.org/officeDocument/2006/relationships/notesSlide" Target="/ppt/notesSlides/notesSlide12.xml" Id="Rd6ca8e0c25be48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E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DC4CE-5B97-4CF0-BF53-BBA25108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00" b="1">
                <a:solidFill>
                  <a:srgbClr val="FFFFFF"/>
                </a:solidFill>
              </a:defRPr>
            </a:defPPr>
            <a:lvl1pPr>
              <a:defRPr sz="4500" b="1">
                <a:solidFill>
                  <a:srgbClr val="FFFFFF"/>
                </a:solidFill>
              </a:defRPr>
            </a:lvl1pPr>
            <a:lvl2pPr>
              <a:defRPr sz="4500" b="1">
                <a:solidFill>
                  <a:srgbClr val="FFFFFF"/>
                </a:solidFill>
              </a:defRPr>
            </a:lvl2pPr>
            <a:lvl3pPr>
              <a:defRPr sz="4500" b="1">
                <a:solidFill>
                  <a:srgbClr val="FFFFFF"/>
                </a:solidFill>
              </a:defRPr>
            </a:lvl3pPr>
            <a:lvl4pPr>
              <a:defRPr sz="4500" b="1">
                <a:solidFill>
                  <a:srgbClr val="FFFFFF"/>
                </a:solidFill>
              </a:defRPr>
            </a:lvl4pPr>
            <a:lvl5pPr>
              <a:defRPr sz="4500" b="1">
                <a:solidFill>
                  <a:srgbClr val="FFFFFF"/>
                </a:solidFill>
              </a:defRPr>
            </a:lvl5pPr>
            <a:lvl6pPr>
              <a:defRPr sz="4500" b="1">
                <a:solidFill>
                  <a:srgbClr val="FFFFFF"/>
                </a:solidFill>
              </a:defRPr>
            </a:lvl6pPr>
            <a:lvl7pPr>
              <a:defRPr sz="4500" b="1">
                <a:solidFill>
                  <a:srgbClr val="FFFFFF"/>
                </a:solidFill>
              </a:defRPr>
            </a:lvl7pPr>
            <a:lvl8pPr>
              <a:defRPr sz="4500" b="1">
                <a:solidFill>
                  <a:srgbClr val="FFFFFF"/>
                </a:solidFill>
              </a:defRPr>
            </a:lvl8pPr>
            <a:lvl9pPr>
              <a:defRPr sz="450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Cypress en Qolqe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341482-E13D-42E8-B960-FCC07741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BCE9D1"/>
                </a:solidFill>
              </a:defRPr>
            </a:defPPr>
            <a:lvl1pPr>
              <a:defRPr sz="2400" b="0">
                <a:solidFill>
                  <a:srgbClr val="BCE9D1"/>
                </a:solidFill>
              </a:defRPr>
            </a:lvl1pPr>
            <a:lvl2pPr>
              <a:defRPr sz="2400" b="0">
                <a:solidFill>
                  <a:srgbClr val="BCE9D1"/>
                </a:solidFill>
              </a:defRPr>
            </a:lvl2pPr>
            <a:lvl3pPr>
              <a:defRPr sz="2400" b="0">
                <a:solidFill>
                  <a:srgbClr val="BCE9D1"/>
                </a:solidFill>
              </a:defRPr>
            </a:lvl3pPr>
            <a:lvl4pPr>
              <a:defRPr sz="2400" b="0">
                <a:solidFill>
                  <a:srgbClr val="BCE9D1"/>
                </a:solidFill>
              </a:defRPr>
            </a:lvl4pPr>
            <a:lvl5pPr>
              <a:defRPr sz="2400" b="0">
                <a:solidFill>
                  <a:srgbClr val="BCE9D1"/>
                </a:solidFill>
              </a:defRPr>
            </a:lvl5pPr>
            <a:lvl6pPr>
              <a:defRPr sz="2400" b="0">
                <a:solidFill>
                  <a:srgbClr val="BCE9D1"/>
                </a:solidFill>
              </a:defRPr>
            </a:lvl6pPr>
            <a:lvl7pPr>
              <a:defRPr sz="2400" b="0">
                <a:solidFill>
                  <a:srgbClr val="BCE9D1"/>
                </a:solidFill>
              </a:defRPr>
            </a:lvl7pPr>
            <a:lvl8pPr>
              <a:defRPr sz="2400" b="0">
                <a:solidFill>
                  <a:srgbClr val="BCE9D1"/>
                </a:solidFill>
              </a:defRPr>
            </a:lvl8pPr>
            <a:lvl9pPr>
              <a:defRPr sz="2400" b="0">
                <a:solidFill>
                  <a:srgbClr val="BCE9D1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BCE9D1"/>
                </a:solidFill>
              </a:defRPr>
            </a:pPr>
            <a:r>
              <a:rPr sz="2400" b="0">
                <a:solidFill>
                  <a:srgbClr val="BCE9D1"/>
                </a:solidFill>
              </a:rPr>
              <a:t>Pruebas E2E del registro de contactos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C1A56D-8951-46E4-9B3A-05018908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Granit y Franco</a:t>
            </a:r>
          </a:p>
          <a:p xmlns:a="http://schemas.openxmlformats.org/drawingml/2006/main"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</a:rPr>
              <a:t>CS5383 · Pruebas y Verificación de Software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4C477-C662-4265-8956-1E6F7C310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BCE9D1"/>
                </a:solidFill>
              </a:defRPr>
            </a:defPPr>
            <a:lvl1pPr>
              <a:defRPr sz="1350" b="0">
                <a:solidFill>
                  <a:srgbClr val="BCE9D1"/>
                </a:solidFill>
              </a:defRPr>
            </a:lvl1pPr>
            <a:lvl2pPr>
              <a:defRPr sz="1350" b="0">
                <a:solidFill>
                  <a:srgbClr val="BCE9D1"/>
                </a:solidFill>
              </a:defRPr>
            </a:lvl2pPr>
            <a:lvl3pPr>
              <a:defRPr sz="1350" b="0">
                <a:solidFill>
                  <a:srgbClr val="BCE9D1"/>
                </a:solidFill>
              </a:defRPr>
            </a:lvl3pPr>
            <a:lvl4pPr>
              <a:defRPr sz="1350" b="0">
                <a:solidFill>
                  <a:srgbClr val="BCE9D1"/>
                </a:solidFill>
              </a:defRPr>
            </a:lvl4pPr>
            <a:lvl5pPr>
              <a:defRPr sz="1350" b="0">
                <a:solidFill>
                  <a:srgbClr val="BCE9D1"/>
                </a:solidFill>
              </a:defRPr>
            </a:lvl5pPr>
            <a:lvl6pPr>
              <a:defRPr sz="1350" b="0">
                <a:solidFill>
                  <a:srgbClr val="BCE9D1"/>
                </a:solidFill>
              </a:defRPr>
            </a:lvl6pPr>
            <a:lvl7pPr>
              <a:defRPr sz="1350" b="0">
                <a:solidFill>
                  <a:srgbClr val="BCE9D1"/>
                </a:solidFill>
              </a:defRPr>
            </a:lvl7pPr>
            <a:lvl8pPr>
              <a:defRPr sz="1350" b="0">
                <a:solidFill>
                  <a:srgbClr val="BCE9D1"/>
                </a:solidFill>
              </a:defRPr>
            </a:lvl8pPr>
            <a:lvl9pPr>
              <a:defRPr sz="1350" b="0">
                <a:solidFill>
                  <a:srgbClr val="BCE9D1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BCE9D1"/>
                </a:solidFill>
              </a:defRPr>
            </a:pPr>
            <a:r>
              <a:rPr sz="1350" b="0">
                <a:solidFill>
                  <a:srgbClr val="BCE9D1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736165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E232C-D20F-412D-A3A1-89CF325F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El problema que resolvemos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45B87-5B24-4A76-87F0-26DAA4B8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Una API correcta no garantiza que el formulario funcione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FFF3AC-16BD-4B37-95AA-17A3EDE2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El usuario ingresa un celular y un alias.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La prueba comprueba el envío, los datos visibles y la persistencia.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La regresión detecta cambios que rompen este recorrido.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52C31-C000-4854-9A46-707248D9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832706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82FA7A-4A12-4332-B7BF-6A4926A4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Cypress y su evolución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E521B-5879-40AA-97D1-EC4609D7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Automatización web con JavaScript y TypeScript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009543-44FA-4D3E-8871-2C3BE4A0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2017: beta pública y código abierto.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2022: Cypress 10 incorpora Component Testing en beta.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15.4: aparece cy.prompt. 15.13: pasa a beta.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Este proyecto utiliza Cypress 16.2.0.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2394D-AA60-4CF1-AA53-9A8D6CC3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28244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E56290-1855-4F69-B484-34A2BACA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Arquitectura de ejecución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A07F4F-A2BD-4EDA-AD1D-092361176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Cypress coordina el navegador con un proceso Node.js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415DC-F3A8-4433-A87E-F1D36BBB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Test y Page Objects: acciones y aserciones.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Navegador: interfaz real de Qolqe y consultas al DOM.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FastAPI y SQLite: creación y persistencia del contacto.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Node.js: configuración, eventos y reportes.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04D9E-389A-4D6B-A55F-0FC8FABB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53446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CFF7E5-646E-46DB-BB7A-93101324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Alcance y trazabilidad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FB050F-154F-4089-988E-DE72742B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HU-G4-01 · Agregar un contacto · CA1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670C3-D435-41E8-830A-906CA0AC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Smoke: contacto válido, creado y conservado al recargar.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Regresión: alias de dos caracteres, rechazado sin crear.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Regresión: celular repetido, rechazado sin duplicar.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Tres escenarios no cubren todas las reglas de la HU.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B59FD8-88EE-46D7-AE35-6177456F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144365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ED299-E137-481E-852B-969C77D9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Patrón Page Object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F98EA-BD28-41B6-B708-CFFA65EE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Los selectores y las acciones tienen un lugar definido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F4E8CA-3EE8-4D22-9984-6987763E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LoginPage: campos y acción de ingreso.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ContactosPage: formulario, filas y mensajes.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Los tests conservan las aserciones del negocio.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prepararContactos crea usuarios propios para cada caso.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73F6E8-6C89-434A-B57E-050563FF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545275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98735-5219-4EE5-A44A-F580503B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Demo del happy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133C0-D722-4E0A-9941-311ED15D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El contacto debe seguir allí después de recargar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E405BD-5BEF-448A-A56E-75921719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1. Preparación por API e ingreso por interfaz.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2. Celular registrado y alias Ana Cypress.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3. POST real con respuesta 201.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4. Una fila con datos correctos y favorito desactivado.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5. Recarga y comprobación de persistencia.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761F1-FDE2-4F45-994C-DB1BE1BC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63115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D05A51-D1A4-41A6-8120-4A408AD6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IA aplicada con cy.prompt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B5DDCB-FA84-4F75-A26D-EEBE25B4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Instrucciones en lenguaje natural que generan comandos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8F906-E642-457C-8132-F3905D72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La IA completa Celular y Alias y pulsa Agregar.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La opción Code permite inspeccionar los comandos.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Aserciones explícitas comprueban 201 y persistencia.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Requiere sesión Cloud, conexión y acceso a IA.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930734-4049-4AB7-9CF5-B3413C2A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329109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B29EC-3E47-4313-A4AF-6B10CCA8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Reportes y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5F2DA8-41AB-435D-807C-E78F2057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Conservamos los artefactos que ayudan a explicar un fallo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C70992-3059-4309-B052-645C1D9F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Reporte HTML y metadatos por ejecución.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Capturas automáticas al fallar durante cypress run.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Videos de specs fallidos, eliminados si todo pasó.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Artefactos de CI con retención de siete días.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ABBDC0-F7FC-4521-A7D9-7DE33FA0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007622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79B8B-23AB-4E3C-9CF4-E70E39E52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Fallo didáctico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732D5-1586-4B3D-B3A1-BF5266C0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Una expectativa incorrecta produce una prueba roja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C7C9E-6E7A-4CA6-968C-8F906777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Creamos un contacto.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La demo exige deliberadamente que existan dos.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Cypress informa la diferencia y conserva evidencia.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Esta demo está fuera de regresión y CI.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8BD315-7CF2-411C-A5C8-61AC49AE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014902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8E6C7-3E2C-4C91-9039-34CB95A8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Dificultades y límites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5C513F-4BA4-42B8-AF9C-67E123D4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La automatización también requiere mantenimiento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17D2B-988F-413B-B622-3AD3B150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Node compatible y preparación del entorno.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Datos independientes y selectores estables.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La IA añade autenticación y dependencia de red.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No usar Cypress para carga o aplicaciones móviles nativas.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EAA847-049A-4946-856D-96768014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72609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D81BDB-0595-47AD-A87B-A52E5D01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"/>
            <a:ext cx="10744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50" b="1">
                <a:solidFill>
                  <a:srgbClr val="173D35"/>
                </a:solidFill>
              </a:defRPr>
            </a:defPPr>
            <a:lvl1pPr>
              <a:defRPr sz="3450" b="1">
                <a:solidFill>
                  <a:srgbClr val="173D35"/>
                </a:solidFill>
              </a:defRPr>
            </a:lvl1pPr>
            <a:lvl2pPr>
              <a:defRPr sz="3450" b="1">
                <a:solidFill>
                  <a:srgbClr val="173D35"/>
                </a:solidFill>
              </a:defRPr>
            </a:lvl2pPr>
            <a:lvl3pPr>
              <a:defRPr sz="3450" b="1">
                <a:solidFill>
                  <a:srgbClr val="173D35"/>
                </a:solidFill>
              </a:defRPr>
            </a:lvl3pPr>
            <a:lvl4pPr>
              <a:defRPr sz="3450" b="1">
                <a:solidFill>
                  <a:srgbClr val="173D35"/>
                </a:solidFill>
              </a:defRPr>
            </a:lvl4pPr>
            <a:lvl5pPr>
              <a:defRPr sz="3450" b="1">
                <a:solidFill>
                  <a:srgbClr val="173D35"/>
                </a:solidFill>
              </a:defRPr>
            </a:lvl5pPr>
            <a:lvl6pPr>
              <a:defRPr sz="3450" b="1">
                <a:solidFill>
                  <a:srgbClr val="173D35"/>
                </a:solidFill>
              </a:defRPr>
            </a:lvl6pPr>
            <a:lvl7pPr>
              <a:defRPr sz="3450" b="1">
                <a:solidFill>
                  <a:srgbClr val="173D35"/>
                </a:solidFill>
              </a:defRPr>
            </a:lvl7pPr>
            <a:lvl8pPr>
              <a:defRPr sz="3450" b="1">
                <a:solidFill>
                  <a:srgbClr val="173D35"/>
                </a:solidFill>
              </a:defRPr>
            </a:lvl8pPr>
            <a:lvl9pPr>
              <a:defRPr sz="3450" b="1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73D35"/>
                </a:solidFill>
              </a:defRPr>
            </a:pPr>
            <a:r>
              <a:rPr sz="3450" b="1">
                <a:solidFill>
                  <a:srgbClr val="173D35"/>
                </a:solidFill>
              </a:rPr>
              <a:t>Entrega y reproducción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98245-DEF9-4AD1-A227-5924E6F5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257356"/>
                </a:solidFill>
              </a:defRPr>
            </a:defPPr>
            <a:lvl1pPr>
              <a:defRPr sz="2400" b="0">
                <a:solidFill>
                  <a:srgbClr val="257356"/>
                </a:solidFill>
              </a:defRPr>
            </a:lvl1pPr>
            <a:lvl2pPr>
              <a:defRPr sz="2400" b="0">
                <a:solidFill>
                  <a:srgbClr val="257356"/>
                </a:solidFill>
              </a:defRPr>
            </a:lvl2pPr>
            <a:lvl3pPr>
              <a:defRPr sz="2400" b="0">
                <a:solidFill>
                  <a:srgbClr val="257356"/>
                </a:solidFill>
              </a:defRPr>
            </a:lvl3pPr>
            <a:lvl4pPr>
              <a:defRPr sz="2400" b="0">
                <a:solidFill>
                  <a:srgbClr val="257356"/>
                </a:solidFill>
              </a:defRPr>
            </a:lvl4pPr>
            <a:lvl5pPr>
              <a:defRPr sz="2400" b="0">
                <a:solidFill>
                  <a:srgbClr val="257356"/>
                </a:solidFill>
              </a:defRPr>
            </a:lvl5pPr>
            <a:lvl6pPr>
              <a:defRPr sz="2400" b="0">
                <a:solidFill>
                  <a:srgbClr val="257356"/>
                </a:solidFill>
              </a:defRPr>
            </a:lvl6pPr>
            <a:lvl7pPr>
              <a:defRPr sz="2400" b="0">
                <a:solidFill>
                  <a:srgbClr val="257356"/>
                </a:solidFill>
              </a:defRPr>
            </a:lvl7pPr>
            <a:lvl8pPr>
              <a:defRPr sz="2400" b="0">
                <a:solidFill>
                  <a:srgbClr val="257356"/>
                </a:solidFill>
              </a:defRPr>
            </a:lvl8pPr>
            <a:lvl9pPr>
              <a:defRPr sz="2400" b="0">
                <a:solidFill>
                  <a:srgbClr val="257356"/>
                </a:solidFill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57356"/>
                </a:solidFill>
              </a:defRPr>
            </a:pPr>
            <a:r>
              <a:rPr sz="2400" b="0">
                <a:solidFill>
                  <a:srgbClr val="257356"/>
                </a:solidFill>
              </a:rPr>
              <a:t>Código, presentación y ejecución documentada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AFF08-71D9-42F1-905C-9355685B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3D35"/>
                </a:solidFill>
              </a:defRPr>
            </a:defPPr>
            <a:lvl1pPr>
              <a:defRPr sz="2250" b="0">
                <a:solidFill>
                  <a:srgbClr val="173D35"/>
                </a:solidFill>
              </a:defRPr>
            </a:lvl1pPr>
            <a:lvl2pPr>
              <a:defRPr sz="2250" b="0">
                <a:solidFill>
                  <a:srgbClr val="173D35"/>
                </a:solidFill>
              </a:defRPr>
            </a:lvl2pPr>
            <a:lvl3pPr>
              <a:defRPr sz="2250" b="0">
                <a:solidFill>
                  <a:srgbClr val="173D35"/>
                </a:solidFill>
              </a:defRPr>
            </a:lvl3pPr>
            <a:lvl4pPr>
              <a:defRPr sz="2250" b="0">
                <a:solidFill>
                  <a:srgbClr val="173D35"/>
                </a:solidFill>
              </a:defRPr>
            </a:lvl4pPr>
            <a:lvl5pPr>
              <a:defRPr sz="2250" b="0">
                <a:solidFill>
                  <a:srgbClr val="173D35"/>
                </a:solidFill>
              </a:defRPr>
            </a:lvl5pPr>
            <a:lvl6pPr>
              <a:defRPr sz="2250" b="0">
                <a:solidFill>
                  <a:srgbClr val="173D35"/>
                </a:solidFill>
              </a:defRPr>
            </a:lvl6pPr>
            <a:lvl7pPr>
              <a:defRPr sz="2250" b="0">
                <a:solidFill>
                  <a:srgbClr val="173D35"/>
                </a:solidFill>
              </a:defRPr>
            </a:lvl7pPr>
            <a:lvl8pPr>
              <a:defRPr sz="2250" b="0">
                <a:solidFill>
                  <a:srgbClr val="173D35"/>
                </a:solidFill>
              </a:defRPr>
            </a:lvl8pPr>
            <a:lvl9pPr>
              <a:defRPr sz="2250" b="0">
                <a:solidFill>
                  <a:srgbClr val="173D35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README: requisitos y comandos comprobables.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Trazabilidad: requisito, caso y aserciones.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Suite convencional separada de las demos.</a:t>
            </a:r>
          </a:p>
          <a:p xmlns:a="http://schemas.openxmlformats.org/drawingml/2006/main">
            <a:pPr>
              <a:defRPr sz="2250" b="0">
                <a:solidFill>
                  <a:srgbClr val="173D35"/>
                </a:solidFill>
              </a:defRPr>
            </a:pPr>
            <a:r>
              <a:rPr sz="2250" b="0">
                <a:solidFill>
                  <a:srgbClr val="173D35"/>
                </a:solidFill>
              </a:rPr>
              <a:t>GitHub Actions ejecuta la regresión después del push.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7E114A-980D-4D58-8B82-B88B78FD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9766B"/>
                </a:solidFill>
              </a:defRPr>
            </a:defPPr>
            <a:lvl1pPr>
              <a:defRPr sz="1350" b="0">
                <a:solidFill>
                  <a:srgbClr val="59766B"/>
                </a:solidFill>
              </a:defRPr>
            </a:lvl1pPr>
            <a:lvl2pPr>
              <a:defRPr sz="1350" b="0">
                <a:solidFill>
                  <a:srgbClr val="59766B"/>
                </a:solidFill>
              </a:defRPr>
            </a:lvl2pPr>
            <a:lvl3pPr>
              <a:defRPr sz="1350" b="0">
                <a:solidFill>
                  <a:srgbClr val="59766B"/>
                </a:solidFill>
              </a:defRPr>
            </a:lvl3pPr>
            <a:lvl4pPr>
              <a:defRPr sz="1350" b="0">
                <a:solidFill>
                  <a:srgbClr val="59766B"/>
                </a:solidFill>
              </a:defRPr>
            </a:lvl4pPr>
            <a:lvl5pPr>
              <a:defRPr sz="1350" b="0">
                <a:solidFill>
                  <a:srgbClr val="59766B"/>
                </a:solidFill>
              </a:defRPr>
            </a:lvl5pPr>
            <a:lvl6pPr>
              <a:defRPr sz="1350" b="0">
                <a:solidFill>
                  <a:srgbClr val="59766B"/>
                </a:solidFill>
              </a:defRPr>
            </a:lvl6pPr>
            <a:lvl7pPr>
              <a:defRPr sz="1350" b="0">
                <a:solidFill>
                  <a:srgbClr val="59766B"/>
                </a:solidFill>
              </a:defRPr>
            </a:lvl7pPr>
            <a:lvl8pPr>
              <a:defRPr sz="1350" b="0">
                <a:solidFill>
                  <a:srgbClr val="59766B"/>
                </a:solidFill>
              </a:defRPr>
            </a:lvl8pPr>
            <a:lvl9pPr>
              <a:defRPr sz="1350" b="0">
                <a:solidFill>
                  <a:srgbClr val="59766B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9766B"/>
                </a:solidFill>
              </a:defRPr>
            </a:pPr>
            <a:r>
              <a:rPr sz="1350" b="0">
                <a:solidFill>
                  <a:srgbClr val="59766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182390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2026-10-24T14:59:02.8650000Z</dcterms:created>
  <dcterms:modified xsi:type="dcterms:W3CDTF">2026-10-24T14:59:02.8650000Z</dcterms:modified>
</coreProperties>
</file>