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herramienta: qué es Cypress, qué problema resuelve, cómo funciona, cómo integra IA, qué patrón de diseño usamos y cuándo conviene o no. La parte «Cypress en Qolqe» cierra mostrando la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Contexto: una prueba que falla a veces sin que cambie el código (flaky) cuesta tiempo y confianza. Selenium controla el navegador con comandos remotos por la red (fuente: https://www.cypress.io/how-it-works). Cypress nace para mejorar la experiencia de escribir y depurar estas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Fuentes: https://www.cypress.io/blog/cypress-is-now-public-beta ; https://www.cypress.io/blog/cypress-10-release ; https://docs.cypress.io/api/commands/prompt#History. 2017 beta pública y código abierto; 2022 Cypress 10 con Component Testing en beta; cy.prompt introducido en 15.4.0 y en beta desde 15.13.0; este proyecto usa 16.2.0.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https://www.cypress.io/how-it-works . Cypress se ejecuta en el mismo run loop que la aplicación; un proceso Node.js trabaja detrás y se comunica con el navegador (capturas, video, sistema de archivos y red). Opera en la capa de red, por eso puede observar o modificar el tráfico. Selenium envía comandos remotos por la red mediante un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https://www.cypress.io/how-it-works . La espera automática espera a que los elementos estén visibles, habilitados y sin cubrir, y a que terminen las animaciones; las aserciones se reintentan hasta cumplirse. Esto reduce, pero no elimina, los fallos intermitentes.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Fuentes: https://docs.cypress.io/api/commands/prompt ; https://docs.cypress.io/app/guides/ai-test-generation . cy.prompt: introducido en 15.4.0, beta desde 15.13.0. Requiere cuenta o clave de Cypress Cloud; solo E2E y navegadores basados en Chromium. El código generado se guarda en caché y puede verse con el botón Code del Command Log. El self-healing forma parte de cy.prompt: cuando cambia un selector o su texto, Cypress resuelve el paso otra vez y lo marca en el Command Log y en Cloud. Límites: no admite cy.request, iframes ni canvas; los prompts en inglés están optimizados. Nuestra demo muestra generación y ejecución, no self-healing.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https://docs.cypress.io/app/core-concepts/best-practices . Cypress promueve ampliar cy con comandos personalizados; combinarlo con Page Objects separa selectores de aserciones. POM es una decisión de diseño, no una regla universal de Cypress: evitar compartir Page Objects con estado entre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https://docs.cypress.io/app/guides/screenshots-and-videos . En cypress open se usa la interfaz interactiva; en cypress run (CI) Cypress toma capturas automáticas al fallar y puede grabar video. En el proyecto el video se graba durante run y un hook after:spec elimina el de los specs sin intentos fallidos, así solo se conserva el video de los fallos. Los artefactos de CI se retienen 7 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https://docs.cypress.io/app/references/trade-offs . Limitaciones documentadas: el código de prueba corre en JavaScript dentro del navegador; solo se controla un navegador a la vez (varias pestañas con el plugin @cypress/puppeteer); cada prueba trabaja con un superdominio y la navegación entre orígenes requiere cy.origin; sin eventos nativos ni móviles; soporte limitado de iframes; no sirve para pruebas de carga ni para recorrer sitios de terceros.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la parte conceptual y dar paso a la implementación: Cypress en Qolqe muestra cómo aplicamos estas ideas en el módulo de contactos.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Cypress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2BD18F"/>
                </a:solidFill>
                <a:latin typeface="Calibri"/>
              </a:rPr>
              <a:t>Automatización de pruebas end-to-end para la web moderna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AB8C8"/>
                </a:solidFill>
                <a:latin typeface="Calibri"/>
              </a:rPr>
              <a:t>Granit y Franco · CS5383 · Pruebas y Verificación de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8016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630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BD18F"/>
                </a:solidFill>
                <a:latin typeface="Calibri"/>
              </a:rPr>
              <a:t>Qué 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084831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7D2E0"/>
                </a:solidFill>
                <a:latin typeface="Calibri"/>
              </a:rPr>
              <a:t>y qué problema resuelve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88036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3063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BD18F"/>
                </a:solidFill>
                <a:latin typeface="Calibri"/>
              </a:rPr>
              <a:t>Cómo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685031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7D2E0"/>
                </a:solidFill>
                <a:latin typeface="Calibri"/>
              </a:rPr>
              <a:t>arquitectura, IA y patrón de diseño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480560"/>
            <a:ext cx="3840480" cy="1325880"/>
          </a:xfrm>
          <a:prstGeom prst="roundRect">
            <a:avLst>
              <a:gd name="adj" fmla="val 10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663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BD18F"/>
                </a:solidFill>
                <a:latin typeface="Calibri"/>
              </a:rPr>
              <a:t>Cuándo usarlo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285231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7D2E0"/>
                </a:solidFill>
                <a:latin typeface="Calibri"/>
              </a:rPr>
              <a:t>ventajas, límites y decisión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El dolor de automatizar pruebas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Pruebas lentas, frágiles y difíciles de depurar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DC4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El dolor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949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Esperas fijas y manuales para que cargue la página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Fallos intermitentes que no se reproducen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Comandos remotos al navegador: más latencia y más piezas que fallan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Depurar a ciegas: solo queda un mensaje de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0F1B2D"/>
                </a:solidFill>
                <a:latin typeface="Calibri"/>
              </a:rPr>
              <a:t>Lo que propone Cypress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48840"/>
            <a:ext cx="53949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Espera automática: elementos visibles, habilitados y sin cubrir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Corre junto a la aplicación, dentro del navegador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Viaje en el tiempo: snapshots del DOM en cada comando</a:t>
            </a:r>
          </a:p>
          <a:p>
            <a:pPr algn="l"/>
            <a:r>
              <a:rPr sz="1500" b="0">
                <a:solidFill>
                  <a:srgbClr val="1B2733"/>
                </a:solidFill>
                <a:latin typeface="Calibri"/>
              </a:rPr>
              <a:t>Control de red integrado, sin librerías extra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Resultado esperado: menos falsos negativos y menos tiempo buscando por qué falló una prueba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Qué es Cypress y su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Framework de pruebas end-to-end en JavaScript y TypeScript; también prueba componentes y hace solicitudes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3246120"/>
            <a:ext cx="9144000" cy="54864"/>
          </a:xfrm>
          <a:prstGeom prst="rect">
            <a:avLst/>
          </a:prstGeom>
          <a:solidFill>
            <a:srgbClr val="B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3136392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Beta pública y código abierto</a:t>
            </a:r>
          </a:p>
        </p:txBody>
      </p:sp>
      <p:sp>
        <p:nvSpPr>
          <p:cNvPr id="9" name="Oval 8"/>
          <p:cNvSpPr/>
          <p:nvPr/>
        </p:nvSpPr>
        <p:spPr>
          <a:xfrm>
            <a:off x="3566159" y="3136392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Cypress 10: Component Testing (beta)</a:t>
            </a:r>
          </a:p>
        </p:txBody>
      </p:sp>
      <p:sp>
        <p:nvSpPr>
          <p:cNvPr id="12" name="Oval 11"/>
          <p:cNvSpPr/>
          <p:nvPr/>
        </p:nvSpPr>
        <p:spPr>
          <a:xfrm>
            <a:off x="5852159" y="3136392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15.4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Aparece cy.prompt</a:t>
            </a:r>
          </a:p>
        </p:txBody>
      </p:sp>
      <p:sp>
        <p:nvSpPr>
          <p:cNvPr id="15" name="Oval 14"/>
          <p:cNvSpPr/>
          <p:nvPr/>
        </p:nvSpPr>
        <p:spPr>
          <a:xfrm>
            <a:off x="8138160" y="3136392"/>
            <a:ext cx="274320" cy="27432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15.13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B2733"/>
                </a:solidFill>
                <a:latin typeface="Calibri"/>
              </a:rPr>
              <a:t>cy.prompt pasa a beta</a:t>
            </a:r>
          </a:p>
        </p:txBody>
      </p:sp>
      <p:sp>
        <p:nvSpPr>
          <p:cNvPr id="18" name="Oval 17"/>
          <p:cNvSpPr/>
          <p:nvPr/>
        </p:nvSpPr>
        <p:spPr>
          <a:xfrm>
            <a:off x="10424160" y="3136392"/>
            <a:ext cx="274320" cy="274320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2860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1B2D"/>
                </a:solidFill>
                <a:latin typeface="Calibri"/>
              </a:rPr>
              <a:t>16.2.0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65760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B2733"/>
                </a:solidFill>
                <a:latin typeface="Calibri"/>
              </a:rPr>
              <a:t>Versión de este proyecto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0">
                <a:solidFill>
                  <a:srgbClr val="1B2733"/>
                </a:solidFill>
                <a:latin typeface="Calibri"/>
              </a:rPr>
              <a:t>Pruebas E2E de aplicaciones web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498348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0">
                <a:solidFill>
                  <a:srgbClr val="1B2733"/>
                </a:solidFill>
                <a:latin typeface="Calibri"/>
              </a:rPr>
              <a:t>Pruebas de componentes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498348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0">
                <a:solidFill>
                  <a:srgbClr val="1B2733"/>
                </a:solidFill>
                <a:latin typeface="Calibri"/>
              </a:rPr>
              <a:t>Solicitudes API con cy.request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Arquitectura: dentro del navegador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Cypress se ejecuta en el mismo bucle de ejecución que la aplicación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B6B7A"/>
                </a:solidFill>
                <a:latin typeface="Calibri"/>
              </a:rPr>
              <a:t>Enfoque con driver remoto (p. ej. Selenium)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0">
                <a:solidFill>
                  <a:srgbClr val="1B2733"/>
                </a:solidFill>
                <a:latin typeface="Calibri"/>
              </a:rPr>
              <a:t>Script de prueba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21408" y="2423160"/>
            <a:ext cx="182880" cy="228600"/>
          </a:xfrm>
          <a:prstGeom prst="rightArrow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23160" y="205740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0">
                <a:solidFill>
                  <a:srgbClr val="1B2733"/>
                </a:solidFill>
                <a:latin typeface="Calibri"/>
              </a:rPr>
              <a:t>Driver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95927" y="2423160"/>
            <a:ext cx="182880" cy="228600"/>
          </a:xfrm>
          <a:prstGeom prst="rightArrow">
            <a:avLst/>
          </a:prstGeom>
          <a:solidFill>
            <a:srgbClr val="9A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79" y="205740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0">
                <a:solidFill>
                  <a:srgbClr val="1B2733"/>
                </a:solidFill>
                <a:latin typeface="Calibri"/>
              </a:rPr>
              <a:t>Navegador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7A"/>
                </a:solidFill>
                <a:latin typeface="Calibri"/>
              </a:rPr>
              <a:t>Cada comando viaja por la red hacia el navegador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00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7A55"/>
                </a:solidFill>
                <a:latin typeface="Calibri"/>
              </a:rPr>
              <a:t>Cypress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7F8F0"/>
          </a:solidFill>
          <a:ln w="19050">
            <a:solidFill>
              <a:srgbClr val="2BD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2402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1B2733"/>
                </a:solidFill>
                <a:latin typeface="Calibri"/>
              </a:rPr>
              <a:t>Navegador</a:t>
            </a:r>
          </a:p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Tu prueba y la aplicación, en el mismo bucle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78240" y="2743200"/>
            <a:ext cx="274320" cy="274320"/>
          </a:xfrm>
          <a:prstGeom prst="rightArrow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22402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Proceso Node.js</a:t>
            </a:r>
          </a:p>
          <a:p>
            <a:pPr algn="ctr"/>
            <a:r>
              <a:rPr sz="1300" b="0">
                <a:solidFill>
                  <a:srgbClr val="C7D2E0"/>
                </a:solidFill>
                <a:latin typeface="Calibri"/>
              </a:rPr>
              <a:t>capturas, video, archivos y 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B7A55"/>
                </a:solidFill>
                <a:latin typeface="Calibri"/>
              </a:rPr>
              <a:t>Sin latencia de red entre comando y navegador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1B2733"/>
                </a:solidFill>
                <a:latin typeface="Calibri"/>
              </a:rPr>
              <a:t>Mocha y Chai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Mocha organiza describe e it; Chai aporta las aserciones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475488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1B2733"/>
                </a:solidFill>
                <a:latin typeface="Calibri"/>
              </a:rPr>
              <a:t>Capa de red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Puede observar o modificar el tráfico (cy.intercept)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75488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1B2733"/>
                </a:solidFill>
                <a:latin typeface="Calibri"/>
              </a:rPr>
              <a:t>Navegador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Chrome y otros compatibles; uno por prueba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Por qué nos ayuda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Cuatro capacidades que reducen el trabajo de mantener las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920240"/>
            <a:ext cx="384048" cy="384048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9202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B2D"/>
                </a:solidFill>
                <a:latin typeface="Calibri"/>
              </a:rPr>
              <a:t>Espera automática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51460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Espera a que el elemento sea visible, esté habilitado y no esté cubierto antes de actuar. Las aserciones se reintentan.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920240"/>
            <a:ext cx="384048" cy="384048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202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B2D"/>
                </a:solidFill>
                <a:latin typeface="Calibri"/>
              </a:rPr>
              <a:t>Viaje en el tiempo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51460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Snapshots del DOM: puedes volver al estado de cada comando para ver qué pasó.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4069080"/>
            <a:ext cx="384048" cy="384048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69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B2D"/>
                </a:solidFill>
                <a:latin typeface="Calibri"/>
              </a:rPr>
              <a:t>Control de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466344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cy.intercept observa o simula respuestas, por ejemplo un 500 para probar el estado de error.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4069080"/>
            <a:ext cx="384048" cy="384048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F1B2D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69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B2D"/>
                </a:solidFill>
                <a:latin typeface="Calibri"/>
              </a:rPr>
              <a:t>Evidencia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66344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Capturas al fallar, video y reportes HTML. Con Cypress Cloud, repetición de pruebas.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A"/>
                </a:solidFill>
                <a:latin typeface="Calibri"/>
              </a:rPr>
              <a:t>Reducen los fallos intermitentes, pero no los eliminan por completo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Inteligencia artificial en Cypress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cy.prompt convierte pasos en lenguaje natural en comandos de Cypress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B2D"/>
                </a:solidFill>
                <a:latin typeface="Calibri"/>
              </a:rPr>
              <a:t>Qué ofrece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45973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Generación: instrucciones en lenguaje natural que se vuelven comandos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328415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Botón Code: ver, guardar o exportar el código generado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97096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Self-healing: si cambia un selector o su texto, vuelve a resolver el paso y lo marca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065775"/>
            <a:ext cx="128016" cy="128016"/>
          </a:xfrm>
          <a:prstGeom prst="ellipse">
            <a:avLst/>
          </a:prstGeom>
          <a:solidFill>
            <a:srgbClr val="2BD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79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Placeholders {{x}}: mantienen datos dinámicos fuera de la IA y habilitan la caché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905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8A5A12"/>
                </a:solidFill>
                <a:latin typeface="Calibri"/>
              </a:rPr>
              <a:t>Condiciones y límites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En beta desde la versión 15.13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Requiere Cypress Cloud y navegador Chromium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33"/>
                </a:solidFill>
                <a:latin typeface="Calibri"/>
              </a:rPr>
              <a:t>Sin cy.request, iframes ni canvas; mejor en inglés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31920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BD18F"/>
                </a:solidFill>
                <a:latin typeface="Calibri"/>
              </a:rPr>
              <a:t>Lo que demostramos nosotros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Generación y ejecución de pasos con cy.prompt, y revisión del código generado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El self-healing es de la herramienta; no lo probamos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Patrón de diseño: Page Object y Custom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Tres capas con una responsabilidad cada 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D6F5E8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700" b="1">
                <a:solidFill>
                  <a:srgbClr val="1B2733"/>
                </a:solidFill>
                <a:latin typeface="Calibri"/>
              </a:rPr>
              <a:t>Tests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Escenarios y aserciones del negocio</a:t>
            </a:r>
          </a:p>
        </p:txBody>
      </p:sp>
      <p:sp>
        <p:nvSpPr>
          <p:cNvPr id="6" name="Down Arrow 5"/>
          <p:cNvSpPr/>
          <p:nvPr/>
        </p:nvSpPr>
        <p:spPr>
          <a:xfrm>
            <a:off x="3200400" y="2606040"/>
            <a:ext cx="182880" cy="182880"/>
          </a:xfrm>
          <a:prstGeom prst="downArrow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700" b="1">
                <a:solidFill>
                  <a:srgbClr val="1B2733"/>
                </a:solidFill>
                <a:latin typeface="Calibri"/>
              </a:rPr>
              <a:t>Page Objects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Selectores y acciones de cada pantalla</a:t>
            </a:r>
          </a:p>
        </p:txBody>
      </p:sp>
      <p:sp>
        <p:nvSpPr>
          <p:cNvPr id="8" name="Down Arrow 7"/>
          <p:cNvSpPr/>
          <p:nvPr/>
        </p:nvSpPr>
        <p:spPr>
          <a:xfrm>
            <a:off x="3200400" y="3749039"/>
            <a:ext cx="182880" cy="182880"/>
          </a:xfrm>
          <a:prstGeom prst="downArrow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FFF1DD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700" b="1">
                <a:solidFill>
                  <a:srgbClr val="1B2733"/>
                </a:solidFill>
                <a:latin typeface="Calibri"/>
              </a:rPr>
              <a:t>Custom Commands</a:t>
            </a:r>
          </a:p>
          <a:p>
            <a:pPr algn="l"/>
            <a:r>
              <a:rPr sz="1300" b="0">
                <a:solidFill>
                  <a:srgbClr val="5B6B7A"/>
                </a:solidFill>
                <a:latin typeface="Calibri"/>
              </a:rPr>
              <a:t>Preparación reutilizable: cy.prepararContactos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669280" cy="82296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Cypress y la aplicación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4592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0B7A55"/>
                </a:solidFill>
                <a:latin typeface="Calibri"/>
              </a:rPr>
              <a:t>Mantenibilidad</a:t>
            </a:r>
          </a:p>
          <a:p>
            <a:pPr algn="l"/>
            <a:r>
              <a:rPr sz="1300" b="0">
                <a:solidFill>
                  <a:srgbClr val="1B2733"/>
                </a:solidFill>
                <a:latin typeface="Calibri"/>
              </a:rPr>
              <a:t>Si cambia el selector del botón, se actualiza en un solo Page Object, no en decenas de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06324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0B7A55"/>
                </a:solidFill>
                <a:latin typeface="Calibri"/>
              </a:rPr>
              <a:t>Uso nativo de Cypress</a:t>
            </a:r>
          </a:p>
          <a:p>
            <a:pPr algn="l"/>
            <a:r>
              <a:rPr sz="1300" b="0">
                <a:solidFill>
                  <a:srgbClr val="1B2733"/>
                </a:solidFill>
                <a:latin typeface="Calibri"/>
              </a:rPr>
              <a:t>Los comandos personalizados amplían el objeto cy y dejan las pruebas legibles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48056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500" b="1">
                <a:solidFill>
                  <a:srgbClr val="0B7A55"/>
                </a:solidFill>
                <a:latin typeface="Calibri"/>
              </a:rPr>
              <a:t>Escalabilidad</a:t>
            </a:r>
          </a:p>
          <a:p>
            <a:pPr algn="l"/>
            <a:r>
              <a:rPr sz="1300" b="0">
                <a:solidFill>
                  <a:srgbClr val="1B2733"/>
                </a:solidFill>
                <a:latin typeface="Calibri"/>
              </a:rPr>
              <a:t>Personas distintas trabajan páginas distintas sin chocar en el mismo archivo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989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B7A"/>
                </a:solidFill>
                <a:latin typeface="Calibri"/>
              </a:rPr>
              <a:t>Los Page Objects no guardan estado compartido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Estrategia de evidencias y costos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Guardar solo lo que ayuda a explicar un fallo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1B2733"/>
                </a:solidFill>
                <a:latin typeface="Calibri"/>
              </a:rPr>
              <a:t>cypress open</a:t>
            </a:r>
          </a:p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Interfaz interactiva, desarrollo local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1B2733"/>
                </a:solidFill>
                <a:latin typeface="Calibri"/>
              </a:rPr>
              <a:t>cypress run</a:t>
            </a:r>
          </a:p>
          <a:p>
            <a:pPr algn="ctr"/>
            <a:r>
              <a:rPr sz="1300" b="0">
                <a:solidFill>
                  <a:srgbClr val="5B6B7A"/>
                </a:solidFill>
                <a:latin typeface="Calibri"/>
              </a:rPr>
              <a:t>Sin interfaz, para CI y evidencia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2697480"/>
            <a:ext cx="320040" cy="320040"/>
          </a:xfrm>
          <a:prstGeom prst="rightArrow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9050">
            <a:solidFill>
              <a:srgbClr val="DC4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0">
                <a:solidFill>
                  <a:srgbClr val="8A1F24"/>
                </a:solidFill>
                <a:latin typeface="Calibri"/>
              </a:rPr>
              <a:t>Falla: conserva captura, video y reporte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92608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E7F8F0"/>
          </a:solidFill>
          <a:ln w="19050">
            <a:solidFill>
              <a:srgbClr val="2BD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0">
                <a:solidFill>
                  <a:srgbClr val="0B5E41"/>
                </a:solidFill>
                <a:latin typeface="Calibri"/>
              </a:rPr>
              <a:t>Pasa: borra el video para ahorrar espacio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4592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400" b="1">
                <a:solidFill>
                  <a:srgbClr val="1B2733"/>
                </a:solidFill>
                <a:latin typeface="Calibri"/>
              </a:rPr>
              <a:t>Capturas</a:t>
            </a:r>
          </a:p>
          <a:p>
            <a:pPr algn="l"/>
            <a:r>
              <a:rPr sz="1200" b="0">
                <a:solidFill>
                  <a:srgbClr val="5B6B7A"/>
                </a:solidFill>
                <a:latin typeface="Calibri"/>
              </a:rPr>
              <a:t>automáticas al fallar (screenshotOnRunFailure)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51460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400" b="1">
                <a:solidFill>
                  <a:srgbClr val="1B2733"/>
                </a:solidFill>
                <a:latin typeface="Calibri"/>
              </a:rPr>
              <a:t>Video</a:t>
            </a:r>
          </a:p>
          <a:p>
            <a:pPr algn="l"/>
            <a:r>
              <a:rPr sz="1200" b="0">
                <a:solidFill>
                  <a:srgbClr val="5B6B7A"/>
                </a:solidFill>
                <a:latin typeface="Calibri"/>
              </a:rPr>
              <a:t>se graba en run y se elimina si el spec pasó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38328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400" b="1">
                <a:solidFill>
                  <a:srgbClr val="1B2733"/>
                </a:solidFill>
                <a:latin typeface="Calibri"/>
              </a:rPr>
              <a:t>Artefactos de CI</a:t>
            </a:r>
          </a:p>
          <a:p>
            <a:pPr algn="l"/>
            <a:r>
              <a:rPr sz="1200" b="0">
                <a:solidFill>
                  <a:srgbClr val="5B6B7A"/>
                </a:solidFill>
                <a:latin typeface="Calibri"/>
              </a:rPr>
              <a:t>retención de 7 días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700" b="1">
                <a:solidFill>
                  <a:srgbClr val="2BD18F"/>
                </a:solidFill>
                <a:latin typeface="Calibri"/>
              </a:rPr>
              <a:t>Por qué importa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Los videos y capturas de pruebas que pasan no aportan información y encarecen el almacenamiento. Conservamos evidencia solo de lo que falla, y revisamos que los artefactos se hayan generado.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F1B2D"/>
                </a:solidFill>
                <a:latin typeface="Calibri"/>
              </a:rPr>
              <a:t>Cuándo sí y cuándo no usar Cypress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A"/>
                </a:solidFill>
                <a:latin typeface="Calibri"/>
              </a:rPr>
              <a:t>Criterios de decisión según sus límites técnicos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A"/>
                </a:solidFill>
                <a:latin typeface="Calibri"/>
              </a:rPr>
              <a:t>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48056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109728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B2D"/>
                          </a:solidFill>
                          <a:latin typeface="Calibri"/>
                        </a:rPr>
                        <a:t>Cuándo sí</a:t>
                      </a:r>
                    </a:p>
                  </a:txBody>
                  <a:tcPr anchor="ctr" marL="109728" marR="109728">
                    <a:solidFill>
                      <a:srgbClr val="2BD1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Cuándo no</a:t>
                      </a:r>
                    </a:p>
                  </a:txBody>
                  <a:tcPr anchor="ctr" marL="109728" marR="109728">
                    <a:solidFill>
                      <a:srgbClr val="DC4A4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Tipo de aplicación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Aplicaciones web modernas, de una página o no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Apps móviles nativas o de escritorio; eventos nativos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Estructura de la prueba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Flujos continuos en un dominio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Varias pestañas o navegadores a la vez en un mismo test; varios dominios sin cy.origin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API y frontend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Observar o simular respuestas para probar bordes de la interfaz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Pruebas de carga o recorrer sitios de terceros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733"/>
                          </a:solidFill>
                          <a:latin typeface="Calibri"/>
                        </a:rPr>
                        <a:t>Equipo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Preferencia por JavaScript o TypeScript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733"/>
                          </a:solidFill>
                          <a:latin typeface="Calibri"/>
                        </a:rPr>
                        <a:t>Equipos que exigen Java, Python o C# para el framework</a:t>
                      </a:r>
                    </a:p>
                  </a:txBody>
                  <a:tcPr anchor="ctr" marL="109728" marR="109728"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A"/>
                </a:solidFill>
                <a:latin typeface="Calibri"/>
              </a:rPr>
              <a:t>Su código de prueba corre en JavaScript dentro del navegador; para servidor se usa cy.task o cy.request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Del concepto a nuestro proyecto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517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BD18F"/>
                </a:solidFill>
                <a:latin typeface="Calibri"/>
              </a:rPr>
              <a:t>Ventajas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Espera automática, depuración visual, control de red y evidencia de fallos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6517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BD18F"/>
                </a:solidFill>
                <a:latin typeface="Calibri"/>
              </a:rPr>
              <a:t>Límites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34747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Un navegador a la vez, un dominio por prueba, sin móviles nativos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517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BD18F"/>
                </a:solidFill>
                <a:latin typeface="Calibri"/>
              </a:rPr>
              <a:t>Nuestra 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4747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Page Objects y Custom Commands sobre HU-G4-01, con smoke y regresión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BD18F"/>
                </a:solidFill>
                <a:latin typeface="Calibri"/>
              </a:rPr>
              <a:t>A continuación: Cypress en Qolqe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