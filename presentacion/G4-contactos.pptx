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4c32981add4575" /><Relationship Type="http://schemas.openxmlformats.org/officeDocument/2006/relationships/extended-properties" Target="/docProps/app.xml" Id="R5bddcd6a9c1c4c65" /><Relationship Type="http://schemas.openxmlformats.org/officeDocument/2006/relationships/officeDocument" Target="/ppt/presentation.xml" Id="R98c15ca7eee046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1ba4cec2264001"/>
  </p:sldMasterIdLst>
  <p:notesMasterIdLst>
    <p:notesMasterId xmlns:r="http://schemas.openxmlformats.org/officeDocument/2006/relationships" r:id="R8dad46f942e04cbc"/>
  </p:notesMasterIdLst>
  <p:sldIdLst>
    <p:sldId xmlns:r="http://schemas.openxmlformats.org/officeDocument/2006/relationships" id="256" r:id="R0880bd02755a41cc"/>
    <p:sldId xmlns:r="http://schemas.openxmlformats.org/officeDocument/2006/relationships" id="257" r:id="R8f57727d37bc49e6"/>
    <p:sldId xmlns:r="http://schemas.openxmlformats.org/officeDocument/2006/relationships" id="258" r:id="R6a51cfa3ee984dba"/>
    <p:sldId xmlns:r="http://schemas.openxmlformats.org/officeDocument/2006/relationships" id="259" r:id="R866864a956704fb2"/>
    <p:sldId xmlns:r="http://schemas.openxmlformats.org/officeDocument/2006/relationships" id="260" r:id="R5ca61909f9d94e35"/>
    <p:sldId xmlns:r="http://schemas.openxmlformats.org/officeDocument/2006/relationships" id="261" r:id="R99cfa0223a514c8e"/>
    <p:sldId xmlns:r="http://schemas.openxmlformats.org/officeDocument/2006/relationships" id="262" r:id="Ra52998090ac548d6"/>
    <p:sldId xmlns:r="http://schemas.openxmlformats.org/officeDocument/2006/relationships" id="263" r:id="R25f6b94482724595"/>
    <p:sldId xmlns:r="http://schemas.openxmlformats.org/officeDocument/2006/relationships" id="264" r:id="R9694ec57d3464d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0019d57e714978" /><Relationship Type="http://schemas.openxmlformats.org/officeDocument/2006/relationships/slideMaster" Target="/ppt/slideMasters/slideMaster1.xml" Id="R031ba4cec2264001" /><Relationship Type="http://schemas.openxmlformats.org/officeDocument/2006/relationships/notesMaster" Target="/ppt/notesMasters/notesMaster1.xml" Id="R8dad46f942e04cbc" /><Relationship Type="http://schemas.openxmlformats.org/officeDocument/2006/relationships/presProps" Target="/ppt/presProps.xml" Id="R701f0029cfd347f1" /><Relationship Type="http://schemas.openxmlformats.org/officeDocument/2006/relationships/tableStyles" Target="/ppt/tableStyles.xml" Id="R864a6b48bbe847e4" /><Relationship Type="http://schemas.openxmlformats.org/officeDocument/2006/relationships/slide" Target="/ppt/slides/slide1.xml" Id="R0880bd02755a41cc" /><Relationship Type="http://schemas.openxmlformats.org/officeDocument/2006/relationships/slide" Target="/ppt/slides/slide2.xml" Id="R8f57727d37bc49e6" /><Relationship Type="http://schemas.openxmlformats.org/officeDocument/2006/relationships/slide" Target="/ppt/slides/slide3.xml" Id="R6a51cfa3ee984dba" /><Relationship Type="http://schemas.openxmlformats.org/officeDocument/2006/relationships/slide" Target="/ppt/slides/slide4.xml" Id="R866864a956704fb2" /><Relationship Type="http://schemas.openxmlformats.org/officeDocument/2006/relationships/slide" Target="/ppt/slides/slide5.xml" Id="R5ca61909f9d94e35" /><Relationship Type="http://schemas.openxmlformats.org/officeDocument/2006/relationships/slide" Target="/ppt/slides/slide6.xml" Id="R99cfa0223a514c8e" /><Relationship Type="http://schemas.openxmlformats.org/officeDocument/2006/relationships/slide" Target="/ppt/slides/slide7.xml" Id="Ra52998090ac548d6" /><Relationship Type="http://schemas.openxmlformats.org/officeDocument/2006/relationships/slide" Target="/ppt/slides/slide8.xml" Id="R25f6b94482724595" /><Relationship Type="http://schemas.openxmlformats.org/officeDocument/2006/relationships/slide" Target="/ppt/slides/slide9.xml" Id="R9694ec57d3464d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fa08b3bb5f46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0cb3f2763e49f8" /><Relationship Type="http://schemas.openxmlformats.org/officeDocument/2006/relationships/notesMaster" Target="/ppt/notesMasters/notesMaster1.xml" Id="Rb5b22a0dbeb243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dcc2ff170a4e6e" /><Relationship Type="http://schemas.openxmlformats.org/officeDocument/2006/relationships/notesMaster" Target="/ppt/notesMasters/notesMaster1.xml" Id="R8933aa47b7ef4e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cabd48217440f4" /><Relationship Type="http://schemas.openxmlformats.org/officeDocument/2006/relationships/notesMaster" Target="/ppt/notesMasters/notesMaster1.xml" Id="Ra8697b0d2d494e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c0af8e033842cf" /><Relationship Type="http://schemas.openxmlformats.org/officeDocument/2006/relationships/notesMaster" Target="/ppt/notesMasters/notesMaster1.xml" Id="R357428a3915e40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10c6f6a8cb4181" /><Relationship Type="http://schemas.openxmlformats.org/officeDocument/2006/relationships/notesMaster" Target="/ppt/notesMasters/notesMaster1.xml" Id="R8aaf30de760640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4733898f5c47ad" /><Relationship Type="http://schemas.openxmlformats.org/officeDocument/2006/relationships/notesMaster" Target="/ppt/notesMasters/notesMaster1.xml" Id="R84ff3807397643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24c8e0dac649dd" /><Relationship Type="http://schemas.openxmlformats.org/officeDocument/2006/relationships/notesMaster" Target="/ppt/notesMasters/notesMaster1.xml" Id="R41db87ad58f749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85d462c4c34d98" /><Relationship Type="http://schemas.openxmlformats.org/officeDocument/2006/relationships/notesMaster" Target="/ppt/notesMasters/notesMaster1.xml" Id="R157062a80a2443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96a5eae02f4ec2" /><Relationship Type="http://schemas.openxmlformats.org/officeDocument/2006/relationships/notesMaster" Target="/ppt/notesMasters/notesMaster1.xml" Id="R1089dd0bcf3e4d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docs/requisitos.md de Qolqe commit 8c7d2f0c939ede7765b7b80b98c10c3905693fda; docs/diseno-pruebas.md; reports/resultados.json. Ejecución local real. No se afirma cobertura total. Explicar alternativas y límites, no leer la diapositiva.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docs/requisitos.md de Qolqe commit 8c7d2f0c939ede7765b7b80b98c10c3905693fda; docs/diseno-pruebas.md; reports/resultados.json. Ejecución local real. No se afirma cobertura total. Explicar alternativas y límites, no leer la diapositiva.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docs/requisitos.md de Qolqe commit 8c7d2f0c939ede7765b7b80b98c10c3905693fda; docs/diseno-pruebas.md; reports/resultados.json. Ejecución local real. No se afirma cobertura total. Explicar alternativas y límites, no leer la diapositiva.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docs/requisitos.md de Qolqe commit 8c7d2f0c939ede7765b7b80b98c10c3905693fda; docs/diseno-pruebas.md; reports/resultados.json. Ejecución local real. No se afirma cobertura total. Explicar alternativas y límites, no leer la diapositiva.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docs/requisitos.md de Qolqe commit 8c7d2f0c939ede7765b7b80b98c10c3905693fda; docs/diseno-pruebas.md; reports/resultados.json. Ejecución local real. No se afirma cobertura total. Explicar alternativas y límites, no leer la diapositiva.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docs/requisitos.md de Qolqe commit 8c7d2f0c939ede7765b7b80b98c10c3905693fda; docs/diseno-pruebas.md; reports/resultados.json. Ejecución local real. No se afirma cobertura total. Explicar alternativas y límites, no leer la diapositiva.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docs/requisitos.md de Qolqe commit 8c7d2f0c939ede7765b7b80b98c10c3905693fda; docs/diseno-pruebas.md; reports/resultados.json. Ejecución local real. No se afirma cobertura total. Explicar alternativas y límites, no leer la diapositiva.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docs/requisitos.md de Qolqe commit 8c7d2f0c939ede7765b7b80b98c10c3905693fda; docs/diseno-pruebas.md; reports/resultados.json. Ejecución local real. No se afirma cobertura total. Explicar alternativas y límites, no leer la diapositiva.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docs/requisitos.md de Qolqe commit 8c7d2f0c939ede7765b7b80b98c10c3905693fda; docs/diseno-pruebas.md; reports/resultados.json. Ejecución local real. No se afirma cobertura total. Explicar alternativas y límites, no leer la diapositiva.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2988e5c59144d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d516ff3eda4f2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b500826ecc45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43660899c247e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31fa38f898457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f1a43ced044b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AD2F11-34AF-43E5-A0E8-014605903F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2767101-1D01-409A-9BAB-76D64DB82C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2B6CC50-9C8E-4E69-9501-1740902350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326B78-A12A-42C0-9F7D-5289833688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A663AE1-4FC5-4D85-8920-F237C391BD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1204AD7-5C45-4D1E-AB4E-1C793290D8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E0E424-1D87-4718-A23F-C3B37B096B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A4E6105-9CA6-4DC3-9A0A-6D0019405AA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C65328-0B3F-4FFE-9D24-1719F89E0A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BF01FF-28E0-4838-AE36-E59858E6AB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57f6be7f8f46a7" /><Relationship Type="http://schemas.openxmlformats.org/officeDocument/2006/relationships/slideLayout" Target="/ppt/slideLayouts/slideLayout1.xml" Id="Ra1181f0348f74dfe" /><Relationship Type="http://schemas.openxmlformats.org/officeDocument/2006/relationships/slideLayout" Target="/ppt/slideLayouts/slideLayout2.xml" Id="Ra9aeb6c884d649df" /><Relationship Type="http://schemas.openxmlformats.org/officeDocument/2006/relationships/slideLayout" Target="/ppt/slideLayouts/slideLayout3.xml" Id="Rd010169db365462c" /><Relationship Type="http://schemas.openxmlformats.org/officeDocument/2006/relationships/slideLayout" Target="/ppt/slideLayouts/slideLayout4.xml" Id="R0b53271358874fc9" /><Relationship Type="http://schemas.openxmlformats.org/officeDocument/2006/relationships/slideLayout" Target="/ppt/slideLayouts/slideLayout5.xml" Id="Rdf05e8c0a3c044d9" /><Relationship Type="http://schemas.openxmlformats.org/officeDocument/2006/relationships/slideLayout" Target="/ppt/slideLayouts/slideLayout6.xml" Id="R5af3c12cbd794e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181f0348f74dfe"/>
    <p:sldLayoutId xmlns:r="http://schemas.openxmlformats.org/officeDocument/2006/relationships" id="2147483650" r:id="Ra9aeb6c884d649df"/>
    <p:sldLayoutId xmlns:r="http://schemas.openxmlformats.org/officeDocument/2006/relationships" id="2147483651" r:id="Rd010169db365462c"/>
    <p:sldLayoutId xmlns:r="http://schemas.openxmlformats.org/officeDocument/2006/relationships" id="2147483652" r:id="R0b53271358874fc9"/>
    <p:sldLayoutId xmlns:r="http://schemas.openxmlformats.org/officeDocument/2006/relationships" id="2147483653" r:id="Rdf05e8c0a3c044d9"/>
    <p:sldLayoutId xmlns:r="http://schemas.openxmlformats.org/officeDocument/2006/relationships" id="2147483654" r:id="R5af3c12cbd794e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9853e4817c465c" /><Relationship Type="http://schemas.openxmlformats.org/officeDocument/2006/relationships/notesSlide" Target="/ppt/notesSlides/notesSlide1.xml" Id="R7b291c4098394a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127513979c4e21" /><Relationship Type="http://schemas.openxmlformats.org/officeDocument/2006/relationships/notesSlide" Target="/ppt/notesSlides/notesSlide2.xml" Id="R9870752458be4d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2f8dd450fc4f87" /><Relationship Type="http://schemas.openxmlformats.org/officeDocument/2006/relationships/notesSlide" Target="/ppt/notesSlides/notesSlide3.xml" Id="R74f38e7a41e44f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45425d59264769" /><Relationship Type="http://schemas.openxmlformats.org/officeDocument/2006/relationships/notesSlide" Target="/ppt/notesSlides/notesSlide4.xml" Id="R21815dc4eaf44e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ffc28acab34453" /><Relationship Type="http://schemas.openxmlformats.org/officeDocument/2006/relationships/notesSlide" Target="/ppt/notesSlides/notesSlide5.xml" Id="Rc3f84aa6868a4d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583631a3e942aa" /><Relationship Type="http://schemas.openxmlformats.org/officeDocument/2006/relationships/notesSlide" Target="/ppt/notesSlides/notesSlide6.xml" Id="R5ffe648a16ad42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b86fc898ef42f1" /><Relationship Type="http://schemas.openxmlformats.org/officeDocument/2006/relationships/notesSlide" Target="/ppt/notesSlides/notesSlide7.xml" Id="R73f2e8f37e5a4c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4b4be9d56145f0" /><Relationship Type="http://schemas.openxmlformats.org/officeDocument/2006/relationships/notesSlide" Target="/ppt/notesSlides/notesSlide8.xml" Id="R6c88833b85ee4c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460580432a4303" /><Relationship Type="http://schemas.openxmlformats.org/officeDocument/2006/relationships/notesSlide" Target="/ppt/notesSlides/notesSlide9.xml" Id="Rf3eb0a583ef245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DF433-EA57-4FC3-9485-38003AF9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54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454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5449"/>
                </a:solidFill>
                <a:latin typeface="Arial"/>
                <a:ea typeface="Arial"/>
                <a:cs typeface="Arial"/>
              </a:rPr>
              <a:t>G4 · Contactos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078A5-2A80-4905-89DA-6089C244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6680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9"/>
                </a:solidFill>
                <a:latin typeface="Arial"/>
                <a:ea typeface="Arial"/>
                <a:cs typeface="Arial"/>
              </a:rPr>
              <a:t>Granit Espinoza + Franco</a:t>
            </a:r>
          </a:p>
          <a:p xmlns:a="http://schemas.openxmlformats.org/drawingml/2006/main">
            <a: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9"/>
                </a:solidFill>
                <a:latin typeface="Arial"/>
                <a:ea typeface="Arial"/>
                <a:cs typeface="Arial"/>
              </a:rPr>
              <a:t>Pruebas de API · Parte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1D7E0-E407-478D-A0FD-6FFED9E5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46E"/>
                </a:solidFill>
                <a:latin typeface="Arial"/>
                <a:ea typeface="Arial"/>
                <a:cs typeface="Arial"/>
              </a:rPr>
              <a:t>Requisito → técnica → escenario → evidencia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D90CF-8960-4E96-BE8B-3AB19C76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46E"/>
                </a:solidFill>
                <a:latin typeface="Arial"/>
                <a:ea typeface="Arial"/>
                <a:cs typeface="Arial"/>
              </a:rPr>
              <a:t>1 / 9</a:t>
            </a:r>
          </a:p>
        </p:txBody>
      </p:sp>
    </p:spTree>
    <p:extLst>
      <p:ext uri="{BB962C8B-B14F-4D97-AF65-F5344CB8AC3E}">
        <p14:creationId xmlns:p14="http://schemas.microsoft.com/office/powerpoint/2010/main" val="8628371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4E4DA-D503-4B3D-AF3E-D6232663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54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454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5449"/>
                </a:solidFill>
                <a:latin typeface="Arial"/>
                <a:ea typeface="Arial"/>
                <a:cs typeface="Arial"/>
              </a:rPr>
              <a:t>Nuestra estrategia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84AC9-1B35-4D49-8377-06099645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6680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9"/>
                </a:solidFill>
                <a:latin typeface="Arial"/>
                <a:ea typeface="Arial"/>
                <a:cs typeface="Arial"/>
              </a:rPr>
              <a:t>Karate: comportamiento, estados y efectos sobre datos.</a:t>
            </a:r>
          </a:p>
          <a:p xmlns:a="http://schemas.openxmlformats.org/drawingml/2006/main">
            <a: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9"/>
                </a:solidFill>
                <a:latin typeface="Arial"/>
                <a:ea typeface="Arial"/>
                <a:cs typeface="Arial"/>
              </a:rPr>
              <a:t>Schemathesis: entradas generadas y conformidad con OpenAPI.</a:t>
            </a:r>
          </a:p>
          <a:p xmlns:a="http://schemas.openxmlformats.org/drawingml/2006/main">
            <a: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9"/>
                </a:solidFill>
                <a:latin typeface="Arial"/>
                <a:ea typeface="Arial"/>
                <a:cs typeface="Arial"/>
              </a:rPr>
              <a:t>Revisión manual: comparar contrato con requisitos.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1E724-BA8B-4FF5-8771-60320FCB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46E"/>
                </a:solidFill>
                <a:latin typeface="Arial"/>
                <a:ea typeface="Arial"/>
                <a:cs typeface="Arial"/>
              </a:rPr>
              <a:t>Por qué Karate: .feature ejecutable y menos código de enlace HTTP.</a:t>
            </a:r>
          </a:p>
          <a:p xmlns:a="http://schemas.openxmlformats.org/drawingml/2006/main">
            <a:pPr>
              <a:defRPr sz="16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46E"/>
                </a:solidFill>
                <a:latin typeface="Arial"/>
                <a:ea typeface="Arial"/>
                <a:cs typeface="Arial"/>
              </a:rPr>
              <a:t>Límite: DSL técnico y Java; no acredita cobertura total.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AF7AF-1979-401C-ADF1-96DB56FB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46E"/>
                </a:solidFill>
                <a:latin typeface="Arial"/>
                <a:ea typeface="Arial"/>
                <a:cs typeface="Arial"/>
              </a:rPr>
              <a:t>2 / 9</a:t>
            </a:r>
          </a:p>
        </p:txBody>
      </p:sp>
    </p:spTree>
    <p:extLst>
      <p:ext uri="{BB962C8B-B14F-4D97-AF65-F5344CB8AC3E}">
        <p14:creationId xmlns:p14="http://schemas.microsoft.com/office/powerpoint/2010/main" val="9195605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B8D8D-CF4A-49DB-8638-D7B58C4B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54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454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5449"/>
                </a:solidFill>
                <a:latin typeface="Arial"/>
                <a:ea typeface="Arial"/>
                <a:cs typeface="Arial"/>
              </a:rPr>
              <a:t>HU-G4-01 · Agregar un contacto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338D3-E120-4560-949B-176C462D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6680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9"/>
                </a:solidFill>
                <a:latin typeface="Arial"/>
                <a:ea typeface="Arial"/>
                <a:cs typeface="Arial"/>
              </a:rPr>
              <a:t>Celular registrado y activo, distinto del propio y sin repetirse.</a:t>
            </a:r>
          </a:p>
          <a:p xmlns:a="http://schemas.openxmlformats.org/drawingml/2006/main">
            <a: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9"/>
                </a:solidFill>
                <a:latin typeface="Arial"/>
                <a:ea typeface="Arial"/>
                <a:cs typeface="Arial"/>
              </a:rPr>
              <a:t>Alias normalizado: 3–20 caracteres; letras, números y espacios.</a:t>
            </a:r>
          </a:p>
          <a:p xmlns:a="http://schemas.openxmlformats.org/drawingml/2006/main">
            <a: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9"/>
                </a:solidFill>
                <a:latin typeface="Arial"/>
                <a:ea typeface="Arial"/>
                <a:cs typeface="Arial"/>
              </a:rPr>
              <a:t>Máximo 15 contactos por usuario.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35B5D-52BA-47D6-980E-8A79FDE2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46E"/>
                </a:solidFill>
                <a:latin typeface="Arial"/>
                <a:ea typeface="Arial"/>
                <a:cs typeface="Arial"/>
              </a:rPr>
              <a:t>Prioridad Alta · R-G4-01, R-G4-02 y R-G4-03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704F2-E0D2-4200-819C-17C66C09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46E"/>
                </a:solidFill>
                <a:latin typeface="Arial"/>
                <a:ea typeface="Arial"/>
                <a:cs typeface="Arial"/>
              </a:rPr>
              <a:t>3 / 9</a:t>
            </a:r>
          </a:p>
        </p:txBody>
      </p:sp>
    </p:spTree>
    <p:extLst>
      <p:ext uri="{BB962C8B-B14F-4D97-AF65-F5344CB8AC3E}">
        <p14:creationId xmlns:p14="http://schemas.microsoft.com/office/powerpoint/2010/main" val="18461785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8FBAB-0EB8-47D6-B5AA-394C7215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54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454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5449"/>
                </a:solidFill>
                <a:latin typeface="Arial"/>
                <a:ea typeface="Arial"/>
                <a:cs typeface="Arial"/>
              </a:rPr>
              <a:t>Cómo elegimos los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F2DC2-2728-4E59-BF0E-CFA1DCEC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6680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9"/>
                </a:solidFill>
                <a:latin typeface="Arial"/>
                <a:ea typeface="Arial"/>
                <a:cs typeface="Arial"/>
              </a:rPr>
              <a:t>Particiones: activo, cerrado, propio, inexistente y duplicado.</a:t>
            </a:r>
          </a:p>
          <a:p xmlns:a="http://schemas.openxmlformats.org/drawingml/2006/main">
            <a: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9"/>
                </a:solidFill>
                <a:latin typeface="Arial"/>
                <a:ea typeface="Arial"/>
                <a:cs typeface="Arial"/>
              </a:rPr>
              <a:t>Valores límite: alias de 2, 3, 20 y 21 caracteres.</a:t>
            </a:r>
          </a:p>
          <a:p xmlns:a="http://schemas.openxmlformats.org/drawingml/2006/main">
            <a: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9"/>
                </a:solidFill>
                <a:latin typeface="Arial"/>
                <a:ea typeface="Arial"/>
                <a:cs typeface="Arial"/>
              </a:rPr>
              <a:t>Capacidad: crear el contacto 15 y rechazar el 16.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6DF7B-FC0C-4BED-B1EB-6BD290B1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46E"/>
                </a:solidFill>
                <a:latin typeface="Arial"/>
                <a:ea typeface="Arial"/>
                <a:cs typeface="Arial"/>
              </a:rPr>
              <a:t>Se cambia una condición por caso; las demás permanecen válidas.</a:t>
            </a:r>
          </a:p>
          <a:p xmlns:a="http://schemas.openxmlformats.org/drawingml/2006/main">
            <a:pPr>
              <a:defRPr sz="16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46E"/>
                </a:solidFill>
                <a:latin typeface="Arial"/>
                <a:ea typeface="Arial"/>
                <a:cs typeface="Arial"/>
              </a:rPr>
              <a:t>Vacío, espacios y ñ se comprueban como condiciones separadas.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CCA44-9FBE-4B4B-804E-409874F2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46E"/>
                </a:solidFill>
                <a:latin typeface="Arial"/>
                <a:ea typeface="Arial"/>
                <a:cs typeface="Arial"/>
              </a:rPr>
              <a:t>4 / 9</a:t>
            </a:r>
          </a:p>
        </p:txBody>
      </p:sp>
    </p:spTree>
    <p:extLst>
      <p:ext uri="{BB962C8B-B14F-4D97-AF65-F5344CB8AC3E}">
        <p14:creationId xmlns:p14="http://schemas.microsoft.com/office/powerpoint/2010/main" val="14707425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45C84-E80E-4888-B87A-0D7EC712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54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454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5449"/>
                </a:solidFill>
                <a:latin typeface="Arial"/>
                <a:ea typeface="Arial"/>
                <a:cs typeface="Arial"/>
              </a:rPr>
              <a:t>Un caso derivado del requisito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F778C-1079-43FD-BC76-9DFECB65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6680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9"/>
                </a:solidFill>
                <a:latin typeface="Arial"/>
                <a:ea typeface="Arial"/>
                <a:cs typeface="Arial"/>
              </a:rPr>
              <a:t>Regla R-G4-02: letras, incluidas tildes y ñ.</a:t>
            </a:r>
          </a:p>
          <a:p xmlns:a="http://schemas.openxmlformats.org/drawingml/2006/main">
            <a: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9"/>
                </a:solidFill>
                <a:latin typeface="Arial"/>
                <a:ea typeface="Arial"/>
                <a:cs typeface="Arial"/>
              </a:rPr>
              <a:t>Dato: alias «Niño»; celular ajeno, activo, nuevo; lista vacía.</a:t>
            </a:r>
          </a:p>
          <a:p xmlns:a="http://schemas.openxmlformats.org/drawingml/2006/main">
            <a: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9"/>
                </a:solidFill>
                <a:latin typeface="Arial"/>
                <a:ea typeface="Arial"/>
                <a:cs typeface="Arial"/>
              </a:rPr>
              <a:t>Esperado: 201 y contacto persistido.</a:t>
            </a:r>
          </a:p>
          <a:p xmlns:a="http://schemas.openxmlformats.org/drawingml/2006/main">
            <a: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9"/>
                </a:solidFill>
                <a:latin typeface="Arial"/>
                <a:ea typeface="Arial"/>
                <a:cs typeface="Arial"/>
              </a:rPr>
              <a:t>Obtenido: 422 ALIAS_INVALIDO.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C5C2D-808C-4883-9D63-455EF8DC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46E"/>
                </a:solidFill>
                <a:latin typeface="Arial"/>
                <a:ea typeface="Arial"/>
                <a:cs typeface="Arial"/>
              </a:rPr>
              <a:t>G4-004 · Evidencia HTTP reproducible · Defecto D-01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157C2-CC16-4C25-A5D3-21822878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46E"/>
                </a:solidFill>
                <a:latin typeface="Arial"/>
                <a:ea typeface="Arial"/>
                <a:cs typeface="Arial"/>
              </a:rPr>
              <a:t>5 / 9</a:t>
            </a:r>
          </a:p>
        </p:txBody>
      </p:sp>
    </p:spTree>
    <p:extLst>
      <p:ext uri="{BB962C8B-B14F-4D97-AF65-F5344CB8AC3E}">
        <p14:creationId xmlns:p14="http://schemas.microsoft.com/office/powerpoint/2010/main" val="1400592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12BF8-A1E6-4CBF-BCA2-7F0BB91F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54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454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5449"/>
                </a:solidFill>
                <a:latin typeface="Arial"/>
                <a:ea typeface="Arial"/>
                <a:cs typeface="Arial"/>
              </a:rPr>
              <a:t>La normalización también importa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5D6C5-550D-4798-9F6B-5C47B53D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6680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9"/>
                </a:solidFill>
                <a:latin typeface="Arial"/>
                <a:ea typeface="Arial"/>
                <a:cs typeface="Arial"/>
              </a:rPr>
              <a:t>Contexto: existe un contacto con alias «Ana».</a:t>
            </a:r>
          </a:p>
          <a:p xmlns:a="http://schemas.openxmlformats.org/drawingml/2006/main">
            <a: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9"/>
                </a:solidFill>
                <a:latin typeface="Arial"/>
                <a:ea typeface="Arial"/>
                <a:cs typeface="Arial"/>
              </a:rPr>
              <a:t>Acción: agregar otro celular con alias « Ana ».</a:t>
            </a:r>
          </a:p>
          <a:p xmlns:a="http://schemas.openxmlformats.org/drawingml/2006/main">
            <a: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9"/>
                </a:solidFill>
                <a:latin typeface="Arial"/>
                <a:ea typeface="Arial"/>
                <a:cs typeface="Arial"/>
              </a:rPr>
              <a:t>Esperado: 409 ALIAS_DUPLICADO; conservar un solo contacto.</a:t>
            </a:r>
          </a:p>
          <a:p xmlns:a="http://schemas.openxmlformats.org/drawingml/2006/main">
            <a: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9"/>
                </a:solidFill>
                <a:latin typeface="Arial"/>
                <a:ea typeface="Arial"/>
                <a:cs typeface="Arial"/>
              </a:rPr>
              <a:t>Obtenido: 201; se permite otro alias «Ana».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826F2-D5EE-4524-8872-BE4E0D9F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46E"/>
                </a:solidFill>
                <a:latin typeface="Arial"/>
                <a:ea typeface="Arial"/>
                <a:cs typeface="Arial"/>
              </a:rPr>
              <a:t>G4-018 · Partición de equivalencia · Defecto D-02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1BEFF-A778-4F52-B820-0C524886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46E"/>
                </a:solidFill>
                <a:latin typeface="Arial"/>
                <a:ea typeface="Arial"/>
                <a:cs typeface="Arial"/>
              </a:rPr>
              <a:t>6 / 9</a:t>
            </a:r>
          </a:p>
        </p:txBody>
      </p:sp>
    </p:spTree>
    <p:extLst>
      <p:ext uri="{BB962C8B-B14F-4D97-AF65-F5344CB8AC3E}">
        <p14:creationId xmlns:p14="http://schemas.microsoft.com/office/powerpoint/2010/main" val="1704170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54403-3DB3-4696-869A-B1C97464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54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454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5449"/>
                </a:solidFill>
                <a:latin typeface="Arial"/>
                <a:ea typeface="Arial"/>
                <a:cs typeface="Arial"/>
              </a:rPr>
              <a:t>Resultados de la ejecución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5036F-6A9F-4495-B004-AE410994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6680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9"/>
                </a:solidFill>
                <a:latin typeface="Arial"/>
                <a:ea typeface="Arial"/>
                <a:cs typeface="Arial"/>
              </a:rPr>
              <a:t>116 escenarios ejecutados · 110 aprobados · 6 fallaron.</a:t>
            </a:r>
          </a:p>
          <a:p xmlns:a="http://schemas.openxmlformats.org/drawingml/2006/main">
            <a: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9"/>
                </a:solidFill>
                <a:latin typeface="Arial"/>
                <a:ea typeface="Arial"/>
                <a:cs typeface="Arial"/>
              </a:rPr>
              <a:t>Los fallos reproducen 5 defectos funcionales.</a:t>
            </a:r>
          </a:p>
          <a:p xmlns:a="http://schemas.openxmlformats.org/drawingml/2006/main">
            <a: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9"/>
                </a:solidFill>
                <a:latin typeface="Arial"/>
                <a:ea typeface="Arial"/>
                <a:cs typeface="Arial"/>
              </a:rPr>
              <a:t>Las 10 HU de G4 y 9 del núcleo tienen escenarios.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7A69C-A484-4DAB-8638-CA08690D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46E"/>
                </a:solidFill>
                <a:latin typeface="Arial"/>
                <a:ea typeface="Arial"/>
                <a:cs typeface="Arial"/>
              </a:rPr>
              <a:t>Tener pruebas por HU no significa cobertura total de sus variantes.</a:t>
            </a:r>
          </a:p>
          <a:p xmlns:a="http://schemas.openxmlformats.org/drawingml/2006/main">
            <a:pPr>
              <a:defRPr sz="16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46E"/>
                </a:solidFill>
                <a:latin typeface="Arial"/>
                <a:ea typeface="Arial"/>
                <a:cs typeface="Arial"/>
              </a:rPr>
              <a:t>Consultar docs/cobertura.md antes de declarar completa la entrega.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7B04C-5441-44FB-A551-F2B251D5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46E"/>
                </a:solidFill>
                <a:latin typeface="Arial"/>
                <a:ea typeface="Arial"/>
                <a:cs typeface="Arial"/>
              </a:rPr>
              <a:t>7 / 9</a:t>
            </a:r>
          </a:p>
        </p:txBody>
      </p:sp>
    </p:spTree>
    <p:extLst>
      <p:ext uri="{BB962C8B-B14F-4D97-AF65-F5344CB8AC3E}">
        <p14:creationId xmlns:p14="http://schemas.microsoft.com/office/powerpoint/2010/main" val="7873877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5CCB8-98DE-4DE4-B1D9-617FFC79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54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454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5449"/>
                </a:solidFill>
                <a:latin typeface="Arial"/>
                <a:ea typeface="Arial"/>
                <a:cs typeface="Arial"/>
              </a:rPr>
              <a:t>Contrato y demostración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BB25D-9E1B-4C35-91E8-7F47F348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6680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9"/>
                </a:solidFill>
                <a:latin typeface="Arial"/>
                <a:ea typeface="Arial"/>
                <a:cs typeface="Arial"/>
              </a:rPr>
              <a:t>Abrir el reporte de Schemathesis y revisar una petición fallida.</a:t>
            </a:r>
          </a:p>
          <a:p xmlns:a="http://schemas.openxmlformats.org/drawingml/2006/main">
            <a: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9"/>
                </a:solidFill>
                <a:latin typeface="Arial"/>
                <a:ea typeface="Arial"/>
                <a:cs typeface="Arial"/>
              </a:rPr>
              <a:t>Reproducir el cURL con el contexto apropiado.</a:t>
            </a:r>
          </a:p>
          <a:p xmlns:a="http://schemas.openxmlformats.org/drawingml/2006/main">
            <a: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9"/>
                </a:solidFill>
                <a:latin typeface="Arial"/>
                <a:ea typeface="Arial"/>
                <a:cs typeface="Arial"/>
              </a:rPr>
              <a:t>Comparar requisito, contrato y respuesta.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2539A-B3BB-47C8-BB91-EE1924F7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46E"/>
                </a:solidFill>
                <a:latin typeface="Arial"/>
                <a:ea typeface="Arial"/>
                <a:cs typeface="Arial"/>
              </a:rPr>
              <a:t>Demo: portal → HU-G4-01 → escenario → evidencia.</a:t>
            </a:r>
          </a:p>
          <a:p xmlns:a="http://schemas.openxmlformats.org/drawingml/2006/main">
            <a:pPr>
              <a:defRPr sz="16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46E"/>
                </a:solidFill>
                <a:latin typeface="Arial"/>
                <a:ea typeface="Arial"/>
                <a:cs typeface="Arial"/>
              </a:rPr>
              <a:t>Para otra HU: filtro por historia y matriz de diseño.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8A12B-358A-4233-9AAD-4954D552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46E"/>
                </a:solidFill>
                <a:latin typeface="Arial"/>
                <a:ea typeface="Arial"/>
                <a:cs typeface="Arial"/>
              </a:rPr>
              <a:t>8 / 9</a:t>
            </a:r>
          </a:p>
        </p:txBody>
      </p:sp>
    </p:spTree>
    <p:extLst>
      <p:ext uri="{BB962C8B-B14F-4D97-AF65-F5344CB8AC3E}">
        <p14:creationId xmlns:p14="http://schemas.microsoft.com/office/powerpoint/2010/main" val="8857321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279B4-52C9-4F15-BAF0-1C3DC126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54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4544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5449"/>
                </a:solidFill>
                <a:latin typeface="Arial"/>
                <a:ea typeface="Arial"/>
                <a:cs typeface="Arial"/>
              </a:rPr>
              <a:t>Decisiones defendibles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B86E58-88B5-476C-9EFA-73AB6760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6680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9"/>
                </a:solidFill>
                <a:latin typeface="Arial"/>
                <a:ea typeface="Arial"/>
                <a:cs typeface="Arial"/>
              </a:rPr>
              <a:t>Elegimos una técnica por la condición que debemos comprobar.</a:t>
            </a:r>
          </a:p>
          <a:p xmlns:a="http://schemas.openxmlformats.org/drawingml/2006/main">
            <a: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9"/>
                </a:solidFill>
                <a:latin typeface="Arial"/>
                <a:ea typeface="Arial"/>
                <a:cs typeface="Arial"/>
              </a:rPr>
              <a:t>Cada conclusión se vincula con una ejecución y una versión.</a:t>
            </a:r>
          </a:p>
          <a:p xmlns:a="http://schemas.openxmlformats.org/drawingml/2006/main">
            <a:pPr>
              <a:defRPr sz="2250" b="0">
                <a:solidFill>
                  <a:srgbClr val="172B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9"/>
                </a:solidFill>
                <a:latin typeface="Arial"/>
                <a:ea typeface="Arial"/>
                <a:cs typeface="Arial"/>
              </a:rPr>
              <a:t>Los defectos se conservan; no ajustamos las pruebas para ocultarlos.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D076C-8938-433F-8114-851D154E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46E"/>
                </a:solidFill>
                <a:latin typeface="Arial"/>
                <a:ea typeface="Arial"/>
                <a:cs typeface="Arial"/>
              </a:rPr>
              <a:t>Repositorio, informe, features, reportes y capturas disponibles.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92D34-2D02-43EC-AFEA-D9519CDC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4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46E"/>
                </a:solidFill>
                <a:latin typeface="Arial"/>
                <a:ea typeface="Arial"/>
                <a:cs typeface="Arial"/>
              </a:rPr>
              <a:t>9 / 9</a:t>
            </a:r>
          </a:p>
        </p:txBody>
      </p:sp>
    </p:spTree>
    <p:extLst>
      <p:ext uri="{BB962C8B-B14F-4D97-AF65-F5344CB8AC3E}">
        <p14:creationId xmlns:p14="http://schemas.microsoft.com/office/powerpoint/2010/main" val="12695937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2026-10-13T05:27:53.1140000Z</dcterms:created>
  <dcterms:modified xsi:type="dcterms:W3CDTF">2026-10-13T05:27:53.1140000Z</dcterms:modified>
</coreProperties>
</file>