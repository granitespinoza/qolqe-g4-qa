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b6f80c307e4480" /><Relationship Type="http://schemas.openxmlformats.org/officeDocument/2006/relationships/extended-properties" Target="/docProps/app.xml" Id="Rcc199048a21d46e9" /><Relationship Type="http://schemas.openxmlformats.org/officeDocument/2006/relationships/officeDocument" Target="/ppt/presentation.xml" Id="R101ad5716d19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3cd043d0d4f2e"/>
  </p:sldMasterIdLst>
  <p:notesMasterIdLst>
    <p:notesMasterId xmlns:r="http://schemas.openxmlformats.org/officeDocument/2006/relationships" r:id="R0969a41d207c4f2a"/>
  </p:notesMasterIdLst>
  <p:sldIdLst>
    <p:sldId xmlns:r="http://schemas.openxmlformats.org/officeDocument/2006/relationships" id="256" r:id="R90d6bf852100407e"/>
    <p:sldId xmlns:r="http://schemas.openxmlformats.org/officeDocument/2006/relationships" id="257" r:id="Rabc259a56ede4701"/>
    <p:sldId xmlns:r="http://schemas.openxmlformats.org/officeDocument/2006/relationships" id="258" r:id="R8d44961f42584617"/>
    <p:sldId xmlns:r="http://schemas.openxmlformats.org/officeDocument/2006/relationships" id="259" r:id="R9629bc76bf4944c3"/>
    <p:sldId xmlns:r="http://schemas.openxmlformats.org/officeDocument/2006/relationships" id="260" r:id="R0a11320f4bf247da"/>
    <p:sldId xmlns:r="http://schemas.openxmlformats.org/officeDocument/2006/relationships" id="261" r:id="R9aa9d2e17ec1491b"/>
    <p:sldId xmlns:r="http://schemas.openxmlformats.org/officeDocument/2006/relationships" id="262" r:id="R5f66f38a298d458c"/>
    <p:sldId xmlns:r="http://schemas.openxmlformats.org/officeDocument/2006/relationships" id="263" r:id="R3eec5600caa74543"/>
    <p:sldId xmlns:r="http://schemas.openxmlformats.org/officeDocument/2006/relationships" id="264" r:id="R8ddb3cf923954ddb"/>
    <p:sldId xmlns:r="http://schemas.openxmlformats.org/officeDocument/2006/relationships" id="265" r:id="R1c7074da906c432e"/>
    <p:sldId xmlns:r="http://schemas.openxmlformats.org/officeDocument/2006/relationships" id="266" r:id="R934530b0ce6a41c4"/>
    <p:sldId xmlns:r="http://schemas.openxmlformats.org/officeDocument/2006/relationships" id="267" r:id="Rdb289b058269418e"/>
    <p:sldId xmlns:r="http://schemas.openxmlformats.org/officeDocument/2006/relationships" id="268" r:id="Rdfdd65e8785e4a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0433b6a6174804" /><Relationship Type="http://schemas.openxmlformats.org/officeDocument/2006/relationships/slideMaster" Target="/ppt/slideMasters/slideMaster1.xml" Id="R97e3cd043d0d4f2e" /><Relationship Type="http://schemas.openxmlformats.org/officeDocument/2006/relationships/notesMaster" Target="/ppt/notesMasters/notesMaster1.xml" Id="R0969a41d207c4f2a" /><Relationship Type="http://schemas.openxmlformats.org/officeDocument/2006/relationships/presProps" Target="/ppt/presProps.xml" Id="R6e12180577a44615" /><Relationship Type="http://schemas.openxmlformats.org/officeDocument/2006/relationships/tableStyles" Target="/ppt/tableStyles.xml" Id="R68f8ce99fd9746b3" /><Relationship Type="http://schemas.openxmlformats.org/officeDocument/2006/relationships/slide" Target="/ppt/slides/slide1.xml" Id="R90d6bf852100407e" /><Relationship Type="http://schemas.openxmlformats.org/officeDocument/2006/relationships/slide" Target="/ppt/slides/slide2.xml" Id="Rabc259a56ede4701" /><Relationship Type="http://schemas.openxmlformats.org/officeDocument/2006/relationships/slide" Target="/ppt/slides/slide3.xml" Id="R8d44961f42584617" /><Relationship Type="http://schemas.openxmlformats.org/officeDocument/2006/relationships/slide" Target="/ppt/slides/slide4.xml" Id="R9629bc76bf4944c3" /><Relationship Type="http://schemas.openxmlformats.org/officeDocument/2006/relationships/slide" Target="/ppt/slides/slide5.xml" Id="R0a11320f4bf247da" /><Relationship Type="http://schemas.openxmlformats.org/officeDocument/2006/relationships/slide" Target="/ppt/slides/slide6.xml" Id="R9aa9d2e17ec1491b" /><Relationship Type="http://schemas.openxmlformats.org/officeDocument/2006/relationships/slide" Target="/ppt/slides/slide7.xml" Id="R5f66f38a298d458c" /><Relationship Type="http://schemas.openxmlformats.org/officeDocument/2006/relationships/slide" Target="/ppt/slides/slide8.xml" Id="R3eec5600caa74543" /><Relationship Type="http://schemas.openxmlformats.org/officeDocument/2006/relationships/slide" Target="/ppt/slides/slide9.xml" Id="R8ddb3cf923954ddb" /><Relationship Type="http://schemas.openxmlformats.org/officeDocument/2006/relationships/slide" Target="/ppt/slides/slide10.xml" Id="R1c7074da906c432e" /><Relationship Type="http://schemas.openxmlformats.org/officeDocument/2006/relationships/slide" Target="/ppt/slides/slide11.xml" Id="R934530b0ce6a41c4" /><Relationship Type="http://schemas.openxmlformats.org/officeDocument/2006/relationships/slide" Target="/ppt/slides/slide12.xml" Id="Rdb289b058269418e" /><Relationship Type="http://schemas.openxmlformats.org/officeDocument/2006/relationships/slide" Target="/ppt/slides/slide13.xml" Id="Rdfdd65e8785e4a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5c53fa000e4b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10da94d5524b53" /><Relationship Type="http://schemas.openxmlformats.org/officeDocument/2006/relationships/notesMaster" Target="/ppt/notesMasters/notesMaster1.xml" Id="Rd3a12163c768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9d892c3bfd4ec6" /><Relationship Type="http://schemas.openxmlformats.org/officeDocument/2006/relationships/notesMaster" Target="/ppt/notesMasters/notesMaster1.xml" Id="R4c05b9fc85a5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691c554c34e23" /><Relationship Type="http://schemas.openxmlformats.org/officeDocument/2006/relationships/notesMaster" Target="/ppt/notesMasters/notesMaster1.xml" Id="Rb81b92402e17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3f6da4e79b4f23" /><Relationship Type="http://schemas.openxmlformats.org/officeDocument/2006/relationships/notesMaster" Target="/ppt/notesMasters/notesMaster1.xml" Id="Rd2a675579f8a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c996adb6844dd8" /><Relationship Type="http://schemas.openxmlformats.org/officeDocument/2006/relationships/notesMaster" Target="/ppt/notesMasters/notesMaster1.xml" Id="R51bd86a73d4747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11e7c9db84e4f" /><Relationship Type="http://schemas.openxmlformats.org/officeDocument/2006/relationships/notesMaster" Target="/ppt/notesMasters/notesMaster1.xml" Id="R260735cf741444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f8659359e4182" /><Relationship Type="http://schemas.openxmlformats.org/officeDocument/2006/relationships/notesMaster" Target="/ppt/notesMasters/notesMaster1.xml" Id="Rf72666ab2e034c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010c366a0c44fb" /><Relationship Type="http://schemas.openxmlformats.org/officeDocument/2006/relationships/notesMaster" Target="/ppt/notesMasters/notesMaster1.xml" Id="R1bd89c8d6867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a0567429aa4e31" /><Relationship Type="http://schemas.openxmlformats.org/officeDocument/2006/relationships/notesMaster" Target="/ppt/notesMasters/notesMaster1.xml" Id="R5bbb5c108c264e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07b950d4e04991" /><Relationship Type="http://schemas.openxmlformats.org/officeDocument/2006/relationships/notesMaster" Target="/ppt/notesMasters/notesMaster1.xml" Id="R246c5f2c26fd4a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ec6d1fef374399" /><Relationship Type="http://schemas.openxmlformats.org/officeDocument/2006/relationships/notesMaster" Target="/ppt/notesMasters/notesMaster1.xml" Id="R2a4e90bc2e93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047ed5f48d4068" /><Relationship Type="http://schemas.openxmlformats.org/officeDocument/2006/relationships/notesMaster" Target="/ppt/notesMasters/notesMaster1.xml" Id="R15c746bd6cda4a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79c932093f42ee" /><Relationship Type="http://schemas.openxmlformats.org/officeDocument/2006/relationships/notesMaster" Target="/ppt/notesMasters/notesMaster1.xml" Id="R62d25c3824df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0:00–0:40. Presentar el módulo, integrantes y objetivo. No afirmar 100% de pruebas aprobadas.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0:40–1:40. Justificar selección por reglas, criticidad y dependencias. La API conserva también pruebas del núcleo; no atribuir toda Qolqe al alcance web.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1:40–2:30. Elegir HU-G4-01 CA1 como ejemplo y conectar regla, técnica y esperado.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2:30–3:15. Explicar elección en el contexto de esta aplicación. Las capacidades mostradas están implementadas en el repositorio; no comparar sin evidencia con otras herramientas.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3:15–4:15. Mostrar Web/cypress/pages/ContactosPage.ts. El Page Object concentra acciones y selectores; el test conserva los resultados esperados.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4:15–5:00. Abrir la matriz y buscar E2E-G4-102. Mostrar el mismo ID en código y reporte; el resultado crudo es FAIL con defecto D-01.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5:00–6:00. Abrir Actions y disparar el workflow al comenzar la demo. Se ejecuta en push/PR a main y manualmente. El pipeline valida pruebas y publica evidencia; no despliega Qolqe.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6:00–7:00. Diferenciar PASS/FAIL crudo de aprobación del gate. Un tag no basta: se comparan fuente, caso, paso o firma de error y contexto. Las pruebas del gate verifican falsos verdes.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7:00–8:00. No presentar los defectos de seguridad o dinero como inocuos. Explicar que se conserva su severidad y que la aceptación se limita al riesgo de la ejecución académica. Abrir un registro de defecto.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8:00–11:00. Ejecutar smoke u open desde scripts/cypress.ps1. Un comando seleccionado puede mostrar un snapshot anterior. El run del pipeline puede tardar: iniciarlo antes y continuar la explicación. Una captura anterior no acredita ejecución de hoy.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11:00–12:00. Mostrar las tres corridas y sus mismos nueve fallos conocidos. Se resolvió la inconsistencia del entorno fijando dependencias compatibles con el rango de Qolqe. No se cambió la aplicación. Ver manifests locales; falta verificar el run remoto del commit publicado.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12:00–14:00. Explicar una señal: 409 es rechazo por contacto existente, no creación de un dato inválido. Distinguir el gate académico de la calidad del producto. Reservar un minuto para los enlaces y después cinco de preguntas.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14:00–15:00. Publicar e integrar la entrega a main antes de subir el archivo a Canvas para que los enlaces de matriz y política apunten al contenido final. Fuente técnica del entorno: https://fastapi.tiangolo.com/advanced/advanced-dependencies/ . Cinco minutos de preguntas después.</a:t>
            </a:r>
          </a:p>
          <a:p xmlns:a="http://schemas.openxmlformats.org/drawingml/2006/main">
            <a:r>
              <a:t>Fuente: repositorio Qolqe G4 y evidencia local de la entrega; instrucciones docentes suministradas por Franco, 30/10/2026.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28be2df0347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ebf37714b42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4ae18688d4f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3f31c39584d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fdecffd7d48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8ba12dd7d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9FA8D1-7E29-46DA-AB43-891A1C868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7A240B-128B-42A9-83F1-E246314B23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B03FDB-0B9F-4E72-B249-F14B4A042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4D20FB-C7C1-44A2-8AE0-E4F7AFBA6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DACEF7-D955-49BA-A2C2-DAEA55C146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C1D44-3BBF-4990-B675-299097430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24DA6B-03EA-4EDD-9FB8-CC7595311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115286-BF52-4047-B761-F5AF90DE60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FA7371-86C2-42F4-8190-42568E3FF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B33DF3-EDE5-4DB3-899F-C56640B20A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03d23e85974b5f" /><Relationship Type="http://schemas.openxmlformats.org/officeDocument/2006/relationships/slideLayout" Target="/ppt/slideLayouts/slideLayout1.xml" Id="R12878e4ad0eb47e0" /><Relationship Type="http://schemas.openxmlformats.org/officeDocument/2006/relationships/slideLayout" Target="/ppt/slideLayouts/slideLayout2.xml" Id="R858ec0cd34b74cba" /><Relationship Type="http://schemas.openxmlformats.org/officeDocument/2006/relationships/slideLayout" Target="/ppt/slideLayouts/slideLayout3.xml" Id="R0b7b29062df94da0" /><Relationship Type="http://schemas.openxmlformats.org/officeDocument/2006/relationships/slideLayout" Target="/ppt/slideLayouts/slideLayout4.xml" Id="Reff4a5f625104923" /><Relationship Type="http://schemas.openxmlformats.org/officeDocument/2006/relationships/slideLayout" Target="/ppt/slideLayouts/slideLayout5.xml" Id="R2f832e684bb5453a" /><Relationship Type="http://schemas.openxmlformats.org/officeDocument/2006/relationships/slideLayout" Target="/ppt/slideLayouts/slideLayout6.xml" Id="R6b17e09578394f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78e4ad0eb47e0"/>
    <p:sldLayoutId xmlns:r="http://schemas.openxmlformats.org/officeDocument/2006/relationships" id="2147483650" r:id="R858ec0cd34b74cba"/>
    <p:sldLayoutId xmlns:r="http://schemas.openxmlformats.org/officeDocument/2006/relationships" id="2147483651" r:id="R0b7b29062df94da0"/>
    <p:sldLayoutId xmlns:r="http://schemas.openxmlformats.org/officeDocument/2006/relationships" id="2147483652" r:id="Reff4a5f625104923"/>
    <p:sldLayoutId xmlns:r="http://schemas.openxmlformats.org/officeDocument/2006/relationships" id="2147483653" r:id="R2f832e684bb5453a"/>
    <p:sldLayoutId xmlns:r="http://schemas.openxmlformats.org/officeDocument/2006/relationships" id="2147483654" r:id="R6b17e09578394f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84f78a85b4b37" /><Relationship Type="http://schemas.openxmlformats.org/officeDocument/2006/relationships/notesSlide" Target="/ppt/notesSlides/notesSlide1.xml" Id="R7b2eade06ccc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5efecc63042ba" /><Relationship Type="http://schemas.openxmlformats.org/officeDocument/2006/relationships/notesSlide" Target="/ppt/notesSlides/notesSlide2.xml" Id="R5f3b288266df4e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c71188a3e4689" /><Relationship Type="http://schemas.openxmlformats.org/officeDocument/2006/relationships/notesSlide" Target="/ppt/notesSlides/notesSlide3.xml" Id="R81a68f89952d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526b2e42a4e44" /><Relationship Type="http://schemas.openxmlformats.org/officeDocument/2006/relationships/notesSlide" Target="/ppt/notesSlides/notesSlide4.xml" Id="Rd585952896b048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0eda228614b7f" /><Relationship Type="http://schemas.openxmlformats.org/officeDocument/2006/relationships/notesSlide" Target="/ppt/notesSlides/notesSlide5.xml" Id="R634225969f3649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a4c856c1640c2" /><Relationship Type="http://schemas.openxmlformats.org/officeDocument/2006/relationships/notesSlide" Target="/ppt/notesSlides/notesSlide6.xml" Id="Rfb115028957b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fb1381f0684991" /><Relationship Type="http://schemas.openxmlformats.org/officeDocument/2006/relationships/notesSlide" Target="/ppt/notesSlides/notesSlide7.xml" Id="R41108f7524f947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dd9017cef4c59" /><Relationship Type="http://schemas.openxmlformats.org/officeDocument/2006/relationships/notesSlide" Target="/ppt/notesSlides/notesSlide8.xml" Id="R8442ad1610fb48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60b912f9d4f7d" /><Relationship Type="http://schemas.openxmlformats.org/officeDocument/2006/relationships/notesSlide" Target="/ppt/notesSlides/notesSlide9.xml" Id="R7b3bded9252d43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3863bc8524180" /><Relationship Type="http://schemas.openxmlformats.org/officeDocument/2006/relationships/notesSlide" Target="/ppt/notesSlides/notesSlide10.xml" Id="Rbc83a9cf7e72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3e2f3fd654be4" /><Relationship Type="http://schemas.openxmlformats.org/officeDocument/2006/relationships/notesSlide" Target="/ppt/notesSlides/notesSlide11.xml" Id="Rbf14ff4efb5c4c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6d0b6f8134266" /><Relationship Type="http://schemas.openxmlformats.org/officeDocument/2006/relationships/notesSlide" Target="/ppt/notesSlides/notesSlide12.xml" Id="Rd91f24301a824c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8a6e429014ceb" /><Relationship Type="http://schemas.openxmlformats.org/officeDocument/2006/relationships/hyperlink" Target="https://github.com/granitespinoza/qolqe-g4-qa/tree/main" TargetMode="External" Id="Rf2148d41edd14b26" /><Relationship Type="http://schemas.openxmlformats.org/officeDocument/2006/relationships/hyperlink" Target="https://github.com/granitespinoza/qolqe-g4-qa/blob/main/docs/parte2/trazabilidad.md" TargetMode="External" Id="R0042f0bccdc14a63" /><Relationship Type="http://schemas.openxmlformats.org/officeDocument/2006/relationships/hyperlink" Target="https://github.com/granitespinoza/qolqe-g4-qa/blob/main/docs/parte2/quality-gate.md" TargetMode="External" Id="Rca7db6ca0db04720" /><Relationship Type="http://schemas.openxmlformats.org/officeDocument/2006/relationships/hyperlink" Target="https://github.com/granitespinoza/qolqe-g4-qa/actions" TargetMode="External" Id="R54b8831112db4e02" /><Relationship Type="http://schemas.openxmlformats.org/officeDocument/2006/relationships/notesSlide" Target="/ppt/notesSlides/notesSlide13.xml" Id="Rfe57a1e9968e42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FFBA-6E3D-409E-A4CA-7299BF87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Automatización, CI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4EB25-E218-4BCB-A9DF-C06B9BC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A6EF3-91C7-41B5-B6BA-ADB3F3E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Qolqe · Entrega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067C2-B278-4596-8F47-C40773B8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Granit y Franco · Cypress + TypeScript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4801-2C3A-4D85-B316-FBB7ADB2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Pruebas reales y Quality Gate del Escenario A</a:t>
            </a:r>
          </a:p>
        </p:txBody>
      </p:sp>
    </p:spTree>
    <p:extLst>
      <p:ext uri="{BB962C8B-B14F-4D97-AF65-F5344CB8AC3E}">
        <p14:creationId xmlns:p14="http://schemas.microsoft.com/office/powerpoint/2010/main" val="2128330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CED3A-3CE9-434D-BB1D-BBE997C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Alcance y selección de escenarios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7DFCA-6AF0-49DE-BE1D-4B1D83B0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Específicos: contactos, transferencias desde contactos y solicitudes del módulo G4.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59D3-A39C-4239-BBF4-0627C1E7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Compartidos: login, saldo y movimientos como dependencias de estos flujos.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284DD-72D6-4D58-8F90-3407FE89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18 criterios G4 · 36 grupos de variantes · 54 pruebas web. Otros módulos independientes quedan fuera.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905B-D6CF-40CB-8F00-B7686F65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7729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FC894-6379-4B34-AE4B-7474904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Técnicas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DEB38-F4FA-465A-8718-678D4B8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Particiones: alias válido, inválido y duplicado; actores permitidos y ajenos.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BFB1B-79F0-4907-9CE2-74A2AE79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Valores límite: longitud de alias 3/20, contactos 15/16 y vencimiento 2879/2880/2881 minutos.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70A25-D3AC-4B7D-9C73-CDD0631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Estados y decisiones: pendiente, aceptada, rechazada, cancelada y vencida; saldo y límite diario.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B33F4-D3CB-45CC-AADE-AB375DB4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0598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85A5C-A6BD-437A-9C82-2ED550E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Por qué Cypress y TypeScript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B0A9E-22EC-4318-8011-971A8279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Flujos web observables: comandos, snapshots y respuestas HTTP en el mismo runner.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0156-4AEE-4221-BA74-00DA1F03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TypeScript ayuda a mantener fixtures y Page Objects con tipos consistentes.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559B8-4118-4768-BCFA-10DFE3E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Esperamos respuestas y estados de la interfaz; no usamos esperas fijas ni reintentos para obtener verde.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EA319-BA21-4A2C-9DE7-478843A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3429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B4EB1-B2AE-4304-B287-A8FF773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Arquitectura y Page Object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DA001-ABFA-433E-9844-0A15464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6970A-1EF3-4763-B91F-4A6AC04A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Escenario → Page Object → UI de Qolqe → API → SQLite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8E2CA-B886-4965-AED4-15A95A5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Web/cypress/e2e: acciones y aserciones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F7AA-BBA9-434E-9E8B-914300D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Web/cypress/pages: selectores data-testid y acciones reutilizables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DB28E-7591-4D76-88B5-F054949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Fixtures por API: datos propios; servidor y base aislados</a:t>
            </a:r>
          </a:p>
        </p:txBody>
      </p:sp>
    </p:spTree>
    <p:extLst>
      <p:ext uri="{BB962C8B-B14F-4D97-AF65-F5344CB8AC3E}">
        <p14:creationId xmlns:p14="http://schemas.microsoft.com/office/powerpoint/2010/main" val="1057385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6B6EF-6864-4E5A-B04A-6C5B3A2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Trazabilidad en código y matriz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AC3D5-B950-4B21-BC85-B164E26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HU-G4-01 CA1 → TC-E2E-G4-102 → crear un contacto con alias Niño.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ACEAD-99AB-4BF2-8D09-C1FD366E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Tags: @HU-G4-01 @TC-E2E-G4-102 @known_issue @D-01.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EA793-F985-496C-B1BE-907F6AC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Matriz: HU, TC, escenario, capa, tags, estado de prueba y defecto asociado.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603D1-7CD4-42B2-B27F-CBE663A9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03971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ED05E-DA10-4AB9-B3A9-F13B8E9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Pipeline de tres trabajos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0DE7B-CA65-4904-B185-19205CB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1. API: Karate y Schemathesis; conserva reportes y evalúa firmas conocidas.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25D6-3FFF-40C3-8085-1C4D3E1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2. Web: tres regresiones Cypress, incluso si el trabajo API falla.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4CDA0-E656-422A-90C9-E60E6B9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3. Reportería: consolida el mismo run e intento, publica matriz y decisión final.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074C4-BC20-4451-8EA2-822A9D6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94286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74154-2882-4680-9BFA-47D2FD9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Quality Gate: Escenario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23A60-3ECF-4DDC-A284-83DB1708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Aprueba: pruebas sin fallos o únicamente defectos conocidos admitidos para QA aislada.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FF87B-2BA2-4FBA-AD75-0C738F07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Bloquea: fallo nuevo, causa diferente, preparación inválida, reporte ausente u omisiones.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6C103-9563-41DF-A87A-054A8EC0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Bloquea la inestabilidad: un mismo caso cambia de resultado entre corridas sin cambiar fuentes.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0F45C-D4D7-4B39-AD91-5B3EC26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7305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1660F-0519-4B26-8BE5-87318E01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Defectos y aceptación de riesgo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A371A-0B63-452C-A9EB-5FC5298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D-01/D-02: alias con ñ y duplicados normalizados. D-07: historial del día.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E493C-516A-4CCB-A8BB-2D8C15D5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D-03/D-04/D-05/D-08: vencimiento, revocación, concurrencia y destino cerrado; severidad alta/crítica.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58EEC-3590-4AEC-A358-A08BE031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Admisión solo académica: instancia aislada, datos y dinero ficticios. No es una aprobación para producción.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8CB66-F982-4D1E-8C10-EC1E24D7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6528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2CD04-69BE-4B5A-92E0-40A980D3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Demo en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250B5-900E-43ED-A138-8AA88F3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Cypress: agregar contacto, observar POST 201 y comprobar persistencia al recargar.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05616-9A25-4BDF-9C96-4C9838D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Actions: mostrar el commit y los tres trabajos del run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A8378-56E3-4906-B257-B18CD845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Artefacto: abrir reporte, buscar el mismo TC en la matriz y explicar un FAIL conocido.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A0722-A960-4378-81F0-C22797E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0244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DA477-F395-4DBE-A483-341D298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Resultados locales verificados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FD5B2-F5C2-49B8-952D-91B761A0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1B3F9-F3A9-437C-9786-EA104505BCC2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10668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905000"/>
                <a:gridCol w="2286000"/>
                <a:gridCol w="2286000"/>
                <a:gridCol w="2095500"/>
              </a:tblGrid>
              <a:tr h="595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Corrida</a:t>
                      </a:r>
                    </a:p>
                  </a:txBody>
                  <a:tcPr marL="91440" marR="91440" marT="45720" marB="45720">
                    <a:solidFill>
                      <a:srgbClr val="087F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087F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 crudo</a:t>
                      </a:r>
                    </a:p>
                  </a:txBody>
                  <a:tcPr marL="91440" marR="91440" marT="45720" marB="45720">
                    <a:solidFill>
                      <a:srgbClr val="087F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Known issue</a:t>
                      </a:r>
                    </a:p>
                  </a:txBody>
                  <a:tcPr marL="91440" marR="91440" marT="45720" marB="45720">
                    <a:solidFill>
                      <a:srgbClr val="087F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Flaky</a:t>
                      </a:r>
                    </a:p>
                  </a:txBody>
                  <a:tcPr marL="91440" marR="91440" marT="45720" marB="45720">
                    <a:solidFill>
                      <a:srgbClr val="087F79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4F0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4F0E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3847-8383-4053-92B3-B4E578F4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Gate local: A · 169 PASS API + 12 known issues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03CA-086B-45DE-A5FB-CF234A5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Resultados crudos conservados; cero omitidas en las tres corridas web</a:t>
            </a:r>
          </a:p>
        </p:txBody>
      </p:sp>
    </p:spTree>
    <p:extLst>
      <p:ext uri="{BB962C8B-B14F-4D97-AF65-F5344CB8AC3E}">
        <p14:creationId xmlns:p14="http://schemas.microsoft.com/office/powerpoint/2010/main" val="917124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B2EC3-6815-4203-B9FA-89E709FF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Schemathesis y 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CDBC7-2490-4927-ADC8-13AFECB8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562 interacciones y 27 ocurrencias revisadas de contrato; no equivalen a 27 defectos funcionales.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C406E-8EDA-4E40-9219-6A500EF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El gate tolera causas revisadas; una respuesta, estado o señal distinta bloquea.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C24B2-D533-44AD-9001-77765C2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C40"/>
                </a:solidFill>
                <a:latin typeface="Arial"/>
                <a:ea typeface="Arial"/>
                <a:cs typeface="Arial"/>
              </a:rPr>
              <a:t>Qolqe permanece intacto. La evidencia permite reproducir y localizar los defectos; el run remoto debe corresponder al commit entregado.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6955-86D3-44FB-98E8-28E3F8F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2824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D8D23-1E91-4E13-A05C-902C6E34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C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C40"/>
                </a:solidFill>
                <a:latin typeface="Arial"/>
                <a:ea typeface="Arial"/>
                <a:cs typeface="Arial"/>
              </a:rPr>
              <a:t>Anexo / Referencias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42392-DB79-44BF-B3FE-D30BF701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27600-1032-4AA3-B105-8EE2680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9"/>
                </a:solidFill>
                <a:latin typeface="Arial"/>
                <a:ea typeface="Arial"/>
                <a:cs typeface="Arial"/>
                <a:hlinkClick xmlns:r="http://schemas.openxmlformats.org/officeDocument/2006/relationships" r:id="Rf2148d41edd14b26"/>
              </a:rPr>
              <a:t>Repositorio · rama 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2550-9176-4E90-8DBB-8892EC3C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9"/>
                </a:solidFill>
                <a:latin typeface="Arial"/>
                <a:ea typeface="Arial"/>
                <a:cs typeface="Arial"/>
                <a:hlinkClick xmlns:r="http://schemas.openxmlformats.org/officeDocument/2006/relationships" r:id="R0042f0bccdc14a63"/>
              </a:rPr>
              <a:t>Matriz de trazabilidad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3373D-E1D6-427E-9BA4-98E5C93C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9"/>
                </a:solidFill>
                <a:latin typeface="Arial"/>
                <a:ea typeface="Arial"/>
                <a:cs typeface="Arial"/>
                <a:hlinkClick xmlns:r="http://schemas.openxmlformats.org/officeDocument/2006/relationships" r:id="Rca7db6ca0db04720"/>
              </a:rPr>
              <a:t>Política y defectos conocidos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BE14C-B57A-4030-9892-4504423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9"/>
                </a:solidFill>
                <a:latin typeface="Arial"/>
                <a:ea typeface="Arial"/>
                <a:cs typeface="Arial"/>
                <a:hlinkClick xmlns:r="http://schemas.openxmlformats.org/officeDocument/2006/relationships" r:id="R54b8831112db4e02"/>
              </a:rPr>
              <a:t>GitHub Actions · run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5EF97-E6B9-44BE-B310-C4927F35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Los enlaces a archivos reflejarán la entrega después de integrarla a main</a:t>
            </a:r>
          </a:p>
        </p:txBody>
      </p:sp>
    </p:spTree>
    <p:extLst>
      <p:ext uri="{BB962C8B-B14F-4D97-AF65-F5344CB8AC3E}">
        <p14:creationId xmlns:p14="http://schemas.microsoft.com/office/powerpoint/2010/main" val="101686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2026-10-30T16:10:05.0390000Z</dcterms:created>
  <dcterms:modified xsi:type="dcterms:W3CDTF">2026-10-30T16:10:05.0390000Z</dcterms:modified>
</coreProperties>
</file>